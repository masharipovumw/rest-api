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Montserrat Semi-Bold" charset="-52"/>
      <p:regular r:id="rId12"/>
    </p:embeddedFont>
    <p:embeddedFont>
      <p:font typeface="Calibri" pitchFamily="34" charset="0"/>
      <p:regular r:id="rId13"/>
      <p:bold r:id="rId14"/>
      <p:italic r:id="rId15"/>
      <p:boldItalic r:id="rId16"/>
    </p:embeddedFont>
    <p:embeddedFont>
      <p:font typeface="Open Sans Light" charset="0"/>
      <p:regular r:id="rId17"/>
    </p:embeddedFont>
    <p:embeddedFont>
      <p:font typeface="Open Sans Bold" charset="0"/>
      <p:regular r:id="rId18"/>
    </p:embeddedFont>
    <p:embeddedFont>
      <p:font typeface="Open Sans Medium" charset="0"/>
      <p:regular r:id="rId19"/>
    </p:embeddedFont>
    <p:embeddedFont>
      <p:font typeface="Open Sans"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1" d="100"/>
          <a:sy n="51" d="100"/>
        </p:scale>
        <p:origin x="-456"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uz.wikipedia.org/wiki/Ralph_Pulitzer?action=edit&amp;redlink=1" TargetMode="External"/><Relationship Id="rId13" Type="http://schemas.openxmlformats.org/officeDocument/2006/relationships/hyperlink" Target="https://uz.wikipedia.org/wiki/Fitna_nazariyalari" TargetMode="External"/><Relationship Id="rId3" Type="http://schemas.openxmlformats.org/officeDocument/2006/relationships/image" Target="../media/image6.svg"/><Relationship Id="rId7" Type="http://schemas.openxmlformats.org/officeDocument/2006/relationships/hyperlink" Target="https://uz.wikipedia.org/wiki/Associated_Press" TargetMode="External"/><Relationship Id="rId12" Type="http://schemas.openxmlformats.org/officeDocument/2006/relationships/hyperlink" Target="https://uz.wikipedia.org/wiki/Ijtimoiy_tarmoqlar?action=edit&amp;redlink=1" TargetMode="Externa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https://uz.wikipedia.org/wiki/Faktcheking#cite_note-9" TargetMode="External"/><Relationship Id="rId11" Type="http://schemas.openxmlformats.org/officeDocument/2006/relationships/hyperlink" Target="https://uz.wikipedia.org/wiki/Startap?action=edit&amp;redlink=1" TargetMode="External"/><Relationship Id="rId5" Type="http://schemas.openxmlformats.org/officeDocument/2006/relationships/hyperlink" Target="https://uz.wikipedia.org/wiki/Evolutsiya" TargetMode="External"/><Relationship Id="rId10" Type="http://schemas.openxmlformats.org/officeDocument/2006/relationships/hyperlink" Target="https://uz.wikipedia.org/wiki/The_New_Yorker?action=edit&amp;redlink=1" TargetMode="External"/><Relationship Id="rId4" Type="http://schemas.openxmlformats.org/officeDocument/2006/relationships/hyperlink" Target="https://uz.wikipedia.org/wiki/Sensatsiya?action=edit&amp;redlink=1" TargetMode="External"/><Relationship Id="rId9" Type="http://schemas.openxmlformats.org/officeDocument/2006/relationships/hyperlink" Target="https://uz.wikipedia.org/wiki/Time_(jurnal)"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jpeg"/><Relationship Id="rId7"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jpeg"/><Relationship Id="rId7"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42469" y="0"/>
            <a:ext cx="5416831" cy="12022429"/>
            <a:chOff x="0" y="0"/>
            <a:chExt cx="2858770" cy="6344920"/>
          </a:xfrm>
        </p:grpSpPr>
        <p:sp>
          <p:nvSpPr>
            <p:cNvPr id="3" name="Freeform 3"/>
            <p:cNvSpPr/>
            <p:nvPr/>
          </p:nvSpPr>
          <p:spPr>
            <a:xfrm>
              <a:off x="0" y="0"/>
              <a:ext cx="2858770" cy="6344920"/>
            </a:xfrm>
            <a:custGeom>
              <a:avLst/>
              <a:gdLst/>
              <a:ahLst/>
              <a:cxnLst/>
              <a:rect l="l" t="t" r="r" b="b"/>
              <a:pathLst>
                <a:path w="2858770" h="634492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13405" r="-119513"/>
              </a:stretch>
            </a:blipFill>
          </p:spPr>
        </p:sp>
      </p:grpSp>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20555" y="7033004"/>
            <a:ext cx="11842469" cy="3177813"/>
            <a:chOff x="0" y="0"/>
            <a:chExt cx="9357013" cy="2510865"/>
          </a:xfrm>
        </p:grpSpPr>
        <p:sp>
          <p:nvSpPr>
            <p:cNvPr id="8" name="Freeform 8"/>
            <p:cNvSpPr/>
            <p:nvPr/>
          </p:nvSpPr>
          <p:spPr>
            <a:xfrm>
              <a:off x="0" y="0"/>
              <a:ext cx="9357013" cy="2510865"/>
            </a:xfrm>
            <a:custGeom>
              <a:avLst/>
              <a:gdLst/>
              <a:ahLst/>
              <a:cxnLst/>
              <a:rect l="l" t="t" r="r" b="b"/>
              <a:pathLst>
                <a:path w="9357013" h="2510865">
                  <a:moveTo>
                    <a:pt x="0" y="0"/>
                  </a:moveTo>
                  <a:lnTo>
                    <a:pt x="9357013" y="0"/>
                  </a:lnTo>
                  <a:lnTo>
                    <a:pt x="9357013" y="2510865"/>
                  </a:lnTo>
                  <a:lnTo>
                    <a:pt x="0" y="2510865"/>
                  </a:lnTo>
                  <a:close/>
                </a:path>
              </a:pathLst>
            </a:custGeom>
            <a:solidFill>
              <a:srgbClr val="F6F6F6"/>
            </a:solidFill>
          </p:spPr>
        </p:sp>
        <p:sp>
          <p:nvSpPr>
            <p:cNvPr id="9" name="TextBox 9"/>
            <p:cNvSpPr txBox="1"/>
            <p:nvPr/>
          </p:nvSpPr>
          <p:spPr>
            <a:xfrm>
              <a:off x="0" y="-38100"/>
              <a:ext cx="9357013" cy="25489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853887" y="786854"/>
            <a:ext cx="1977164" cy="1977164"/>
            <a:chOff x="0" y="0"/>
            <a:chExt cx="812800" cy="812800"/>
          </a:xfrm>
        </p:grpSpPr>
        <p:sp>
          <p:nvSpPr>
            <p:cNvPr id="17" name="Freeform 17"/>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1624423" y="78685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20" name="TextBox 20"/>
          <p:cNvSpPr txBox="1"/>
          <p:nvPr/>
        </p:nvSpPr>
        <p:spPr>
          <a:xfrm>
            <a:off x="1624422" y="2355015"/>
            <a:ext cx="10218047" cy="3077766"/>
          </a:xfrm>
          <a:prstGeom prst="rect">
            <a:avLst/>
          </a:prstGeom>
        </p:spPr>
        <p:txBody>
          <a:bodyPr wrap="square" lIns="0" tIns="0" rIns="0" bIns="0" rtlCol="0" anchor="t">
            <a:spAutoFit/>
          </a:bodyPr>
          <a:lstStyle/>
          <a:p>
            <a:pPr algn="l">
              <a:lnSpc>
                <a:spcPts val="11960"/>
              </a:lnSpc>
            </a:pPr>
            <a:r>
              <a:rPr lang="en-US" sz="10400" b="1" dirty="0" err="1" smtClean="0">
                <a:solidFill>
                  <a:srgbClr val="000000"/>
                </a:solidFill>
                <a:latin typeface="Garet Bold"/>
                <a:ea typeface="Garet Bold"/>
                <a:cs typeface="Garet Bold"/>
                <a:sym typeface="Garet Bold"/>
              </a:rPr>
              <a:t>Mavzu</a:t>
            </a:r>
            <a:r>
              <a:rPr lang="en-US" sz="10400" b="1" dirty="0" smtClean="0">
                <a:solidFill>
                  <a:srgbClr val="000000"/>
                </a:solidFill>
                <a:latin typeface="Garet Bold"/>
                <a:ea typeface="Garet Bold"/>
                <a:cs typeface="Garet Bold"/>
                <a:sym typeface="Garet Bold"/>
              </a:rPr>
              <a:t>: FAKTCHEKING </a:t>
            </a:r>
            <a:endParaRPr lang="en-US" sz="10400" b="1" dirty="0">
              <a:solidFill>
                <a:srgbClr val="000000"/>
              </a:solidFill>
              <a:latin typeface="Garet Bold"/>
              <a:ea typeface="Garet Bold"/>
              <a:cs typeface="Garet Bold"/>
              <a:sym typeface="Garet Bold"/>
            </a:endParaRPr>
          </a:p>
        </p:txBody>
      </p:sp>
      <p:grpSp>
        <p:nvGrpSpPr>
          <p:cNvPr id="21" name="Group 21"/>
          <p:cNvGrpSpPr/>
          <p:nvPr/>
        </p:nvGrpSpPr>
        <p:grpSpPr>
          <a:xfrm>
            <a:off x="8484493" y="9014056"/>
            <a:ext cx="2545888" cy="2545888"/>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0345E4">
                  <a:alpha val="9804"/>
                </a:srgbClr>
              </a:solid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770594" cy="10287000"/>
            <a:chOff x="0" y="0"/>
            <a:chExt cx="1783202" cy="2709333"/>
          </a:xfrm>
        </p:grpSpPr>
        <p:sp>
          <p:nvSpPr>
            <p:cNvPr id="3" name="Freeform 3"/>
            <p:cNvSpPr/>
            <p:nvPr/>
          </p:nvSpPr>
          <p:spPr>
            <a:xfrm>
              <a:off x="0" y="0"/>
              <a:ext cx="1783202" cy="2709333"/>
            </a:xfrm>
            <a:custGeom>
              <a:avLst/>
              <a:gdLst/>
              <a:ahLst/>
              <a:cxnLst/>
              <a:rect l="l" t="t" r="r" b="b"/>
              <a:pathLst>
                <a:path w="1783202" h="2709333">
                  <a:moveTo>
                    <a:pt x="0" y="0"/>
                  </a:moveTo>
                  <a:lnTo>
                    <a:pt x="1783202" y="0"/>
                  </a:lnTo>
                  <a:lnTo>
                    <a:pt x="1783202" y="2709333"/>
                  </a:lnTo>
                  <a:lnTo>
                    <a:pt x="0" y="2709333"/>
                  </a:lnTo>
                  <a:close/>
                </a:path>
              </a:pathLst>
            </a:custGeom>
            <a:solidFill>
              <a:srgbClr val="0345E4"/>
            </a:solidFill>
          </p:spPr>
        </p:sp>
        <p:sp>
          <p:nvSpPr>
            <p:cNvPr id="4" name="TextBox 4"/>
            <p:cNvSpPr txBox="1"/>
            <p:nvPr/>
          </p:nvSpPr>
          <p:spPr>
            <a:xfrm>
              <a:off x="0" y="-38100"/>
              <a:ext cx="1783202"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752832"/>
            <a:ext cx="16230600" cy="7557771"/>
          </a:xfrm>
          <a:prstGeom prst="rect">
            <a:avLst/>
          </a:prstGeom>
        </p:spPr>
        <p:txBody>
          <a:bodyPr lIns="0" tIns="0" rIns="0" bIns="0" rtlCol="0" anchor="t">
            <a:spAutoFit/>
          </a:bodyPr>
          <a:lstStyle/>
          <a:p>
            <a:pPr algn="just">
              <a:lnSpc>
                <a:spcPts val="4184"/>
              </a:lnSpc>
            </a:pPr>
            <a:r>
              <a:rPr lang="en-US" sz="2699" b="1" dirty="0" err="1">
                <a:solidFill>
                  <a:srgbClr val="03DDE4"/>
                </a:solidFill>
                <a:latin typeface="Open Sans Bold"/>
                <a:ea typeface="Open Sans Bold"/>
                <a:cs typeface="Open Sans Bold"/>
                <a:sym typeface="Open Sans Bold"/>
              </a:rPr>
              <a:t>Bugungi</a:t>
            </a:r>
            <a:r>
              <a:rPr lang="en-US" sz="2699" b="1" dirty="0">
                <a:solidFill>
                  <a:srgbClr val="03DDE4"/>
                </a:solidFill>
                <a:latin typeface="Open Sans Bold"/>
                <a:ea typeface="Open Sans Bold"/>
                <a:cs typeface="Open Sans Bold"/>
                <a:sym typeface="Open Sans Bold"/>
              </a:rPr>
              <a:t> post-</a:t>
            </a:r>
            <a:r>
              <a:rPr lang="en-US" sz="2699" b="1" dirty="0" err="1">
                <a:solidFill>
                  <a:srgbClr val="03DDE4"/>
                </a:solidFill>
                <a:latin typeface="Open Sans Bold"/>
                <a:ea typeface="Open Sans Bold"/>
                <a:cs typeface="Open Sans Bold"/>
                <a:sym typeface="Open Sans Bold"/>
              </a:rPr>
              <a:t>haqiqat</a:t>
            </a:r>
            <a:r>
              <a:rPr lang="en-US" sz="2699" b="1" dirty="0">
                <a:solidFill>
                  <a:srgbClr val="03DDE4"/>
                </a:solidFill>
                <a:latin typeface="Open Sans Bold"/>
                <a:ea typeface="Open Sans Bold"/>
                <a:cs typeface="Open Sans Bold"/>
                <a:sym typeface="Open Sans Bold"/>
              </a:rPr>
              <a:t> (post-truth) </a:t>
            </a:r>
            <a:r>
              <a:rPr lang="en-US" sz="2699" b="1" dirty="0" err="1">
                <a:solidFill>
                  <a:srgbClr val="03DDE4"/>
                </a:solidFill>
                <a:latin typeface="Open Sans Bold"/>
                <a:ea typeface="Open Sans Bold"/>
                <a:cs typeface="Open Sans Bold"/>
                <a:sym typeface="Open Sans Bold"/>
              </a:rPr>
              <a:t>davrida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axborotning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tezkorligi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uning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sifati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va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ishonchliligidan</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o‘zib</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ketdi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Bunday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sharoitda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jamiyatni</a:t>
            </a:r>
            <a:r>
              <a:rPr lang="en-US" sz="2699" b="1" dirty="0">
                <a:solidFill>
                  <a:srgbClr val="03DDE4"/>
                </a:solidFill>
                <a:latin typeface="Open Sans Bold"/>
                <a:ea typeface="Open Sans Bold"/>
                <a:cs typeface="Open Sans Bold"/>
                <a:sym typeface="Open Sans Bold"/>
              </a:rPr>
              <a:t> media-</a:t>
            </a:r>
            <a:r>
              <a:rPr lang="en-US" sz="2699" b="1" dirty="0" err="1">
                <a:solidFill>
                  <a:srgbClr val="03DDE4"/>
                </a:solidFill>
                <a:latin typeface="Open Sans Bold"/>
                <a:ea typeface="Open Sans Bold"/>
                <a:cs typeface="Open Sans Bold"/>
                <a:sym typeface="Open Sans Bold"/>
              </a:rPr>
              <a:t>savodli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qilishning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asosiy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mexanizmi</a:t>
            </a:r>
            <a:r>
              <a:rPr lang="en-US" sz="2699" b="1" dirty="0">
                <a:solidFill>
                  <a:srgbClr val="03DDE4"/>
                </a:solidFill>
                <a:latin typeface="Open Sans Bold"/>
                <a:ea typeface="Open Sans Bold"/>
                <a:cs typeface="Open Sans Bold"/>
                <a:sym typeface="Open Sans Bold"/>
              </a:rPr>
              <a:t> — </a:t>
            </a:r>
            <a:r>
              <a:rPr lang="en-US" sz="2699" b="1" dirty="0" err="1">
                <a:solidFill>
                  <a:srgbClr val="03DDE4"/>
                </a:solidFill>
                <a:latin typeface="Open Sans Bold"/>
                <a:ea typeface="Open Sans Bold"/>
                <a:cs typeface="Open Sans Bold"/>
                <a:sym typeface="Open Sans Bold"/>
              </a:rPr>
              <a:t>bu</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fakt-chekingdir</a:t>
            </a:r>
            <a:r>
              <a:rPr lang="en-US" sz="2699" b="1" dirty="0">
                <a:solidFill>
                  <a:srgbClr val="03DDE4"/>
                </a:solidFill>
                <a:latin typeface="Open Sans Bold"/>
                <a:ea typeface="Open Sans Bold"/>
                <a:cs typeface="Open Sans Bold"/>
                <a:sym typeface="Open Sans Bold"/>
              </a:rPr>
              <a:t>.</a:t>
            </a:r>
          </a:p>
          <a:p>
            <a:pPr algn="just">
              <a:lnSpc>
                <a:spcPts val="4184"/>
              </a:lnSpc>
            </a:pPr>
            <a:r>
              <a:rPr lang="en-US" sz="2699" b="1" dirty="0" err="1">
                <a:solidFill>
                  <a:srgbClr val="03DDE4"/>
                </a:solidFill>
                <a:latin typeface="Open Sans Bold"/>
                <a:ea typeface="Open Sans Bold"/>
                <a:cs typeface="Open Sans Bold"/>
                <a:sym typeface="Open Sans Bold"/>
              </a:rPr>
              <a:t>Fakt-cheking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inglizcha</a:t>
            </a:r>
            <a:r>
              <a:rPr lang="en-US" sz="2699" b="1" dirty="0">
                <a:solidFill>
                  <a:srgbClr val="03DDE4"/>
                </a:solidFill>
                <a:latin typeface="Open Sans Bold"/>
                <a:ea typeface="Open Sans Bold"/>
                <a:cs typeface="Open Sans Bold"/>
                <a:sym typeface="Open Sans Bold"/>
              </a:rPr>
              <a:t> "fact-checking" — </a:t>
            </a:r>
            <a:r>
              <a:rPr lang="en-US" sz="2699" b="1" dirty="0" err="1">
                <a:solidFill>
                  <a:srgbClr val="03DDE4"/>
                </a:solidFill>
                <a:latin typeface="Open Sans Bold"/>
                <a:ea typeface="Open Sans Bold"/>
                <a:cs typeface="Open Sans Bold"/>
                <a:sym typeface="Open Sans Bold"/>
              </a:rPr>
              <a:t>faktlarni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tekshirish</a:t>
            </a:r>
            <a:r>
              <a:rPr lang="en-US" sz="2699" b="1" dirty="0">
                <a:solidFill>
                  <a:srgbClr val="03DDE4"/>
                </a:solidFill>
                <a:latin typeface="Open Sans Bold"/>
                <a:ea typeface="Open Sans Bold"/>
                <a:cs typeface="Open Sans Bold"/>
                <a:sym typeface="Open Sans Bold"/>
              </a:rPr>
              <a:t>) — </a:t>
            </a:r>
            <a:r>
              <a:rPr lang="en-US" sz="2699" b="1" dirty="0" err="1">
                <a:solidFill>
                  <a:srgbClr val="03DDE4"/>
                </a:solidFill>
                <a:latin typeface="Open Sans Bold"/>
                <a:ea typeface="Open Sans Bold"/>
                <a:cs typeface="Open Sans Bold"/>
                <a:sym typeface="Open Sans Bold"/>
              </a:rPr>
              <a:t>bu</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ommaviy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makonda</a:t>
            </a:r>
            <a:r>
              <a:rPr lang="en-US" sz="2699" b="1" dirty="0">
                <a:solidFill>
                  <a:srgbClr val="03DDE4"/>
                </a:solidFill>
                <a:latin typeface="Open Sans Bold"/>
                <a:ea typeface="Open Sans Bold"/>
                <a:cs typeface="Open Sans Bold"/>
                <a:sym typeface="Open Sans Bold"/>
              </a:rPr>
              <a:t> (OAV, </a:t>
            </a:r>
            <a:r>
              <a:rPr lang="en-US" sz="2699" b="1" dirty="0" err="1">
                <a:solidFill>
                  <a:srgbClr val="03DDE4"/>
                </a:solidFill>
                <a:latin typeface="Open Sans Bold"/>
                <a:ea typeface="Open Sans Bold"/>
                <a:cs typeface="Open Sans Bold"/>
                <a:sym typeface="Open Sans Bold"/>
              </a:rPr>
              <a:t>ijtimoiy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tarmoqlar</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siyosatchilarning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nutqlari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tarqalayotgan</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ma’lumotlarning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aniqligi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to‘g‘riligi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va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haqiqatga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mosligini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tekshirishga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qaratilgan</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tahliliy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faoliyat</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yo‘nalishidir</a:t>
            </a:r>
            <a:r>
              <a:rPr lang="en-US" sz="2699" b="1" dirty="0">
                <a:solidFill>
                  <a:srgbClr val="03DDE4"/>
                </a:solidFill>
                <a:latin typeface="Open Sans Bold"/>
                <a:ea typeface="Open Sans Bold"/>
                <a:cs typeface="Open Sans Bold"/>
                <a:sym typeface="Open Sans Bold"/>
              </a:rPr>
              <a:t>.</a:t>
            </a:r>
          </a:p>
          <a:p>
            <a:pPr algn="just">
              <a:lnSpc>
                <a:spcPts val="4184"/>
              </a:lnSpc>
            </a:pPr>
            <a:r>
              <a:rPr lang="en-US" sz="2699" b="1" dirty="0" err="1">
                <a:solidFill>
                  <a:srgbClr val="03DDE4"/>
                </a:solidFill>
                <a:latin typeface="Open Sans Bold"/>
                <a:ea typeface="Open Sans Bold"/>
                <a:cs typeface="Open Sans Bold"/>
                <a:sym typeface="Open Sans Bold"/>
              </a:rPr>
              <a:t>Pedagogik</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nuqtayi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nazardan</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fakt-cheking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shunchaki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jurnalistik</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termin</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emas</a:t>
            </a:r>
            <a:r>
              <a:rPr lang="en-US" sz="2699" b="1" dirty="0">
                <a:solidFill>
                  <a:srgbClr val="03DDE4"/>
                </a:solidFill>
                <a:latin typeface="Open Sans Bold"/>
                <a:ea typeface="Open Sans Bold"/>
                <a:cs typeface="Open Sans Bold"/>
                <a:sym typeface="Open Sans Bold"/>
              </a:rPr>
              <a:t>, u </a:t>
            </a:r>
            <a:r>
              <a:rPr lang="en-US" sz="2699" b="1" dirty="0" err="1">
                <a:solidFill>
                  <a:srgbClr val="03DDE4"/>
                </a:solidFill>
                <a:latin typeface="Open Sans Bold"/>
                <a:ea typeface="Open Sans Bold"/>
                <a:cs typeface="Open Sans Bold"/>
                <a:sym typeface="Open Sans Bold"/>
              </a:rPr>
              <a:t>zamonaviy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insonning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tanqidiy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fikrlash</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kompetensiyasi</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tarkibiy</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qismidir</a:t>
            </a:r>
            <a:r>
              <a:rPr lang="en-US" sz="2699" b="1" dirty="0">
                <a:solidFill>
                  <a:srgbClr val="03DDE4"/>
                </a:solidFill>
                <a:latin typeface="Open Sans Bold"/>
                <a:ea typeface="Open Sans Bold"/>
                <a:cs typeface="Open Sans Bold"/>
                <a:sym typeface="Open Sans Bold"/>
              </a:rPr>
              <a:t>.</a:t>
            </a:r>
          </a:p>
          <a:p>
            <a:pPr algn="just">
              <a:lnSpc>
                <a:spcPts val="4184"/>
              </a:lnSpc>
            </a:pPr>
            <a:r>
              <a:rPr lang="en-US" sz="2699" b="1" dirty="0" err="1">
                <a:solidFill>
                  <a:srgbClr val="03DDE4"/>
                </a:solidFill>
                <a:latin typeface="Open Sans Bold"/>
                <a:ea typeface="Open Sans Bold"/>
                <a:cs typeface="Open Sans Bold"/>
                <a:sym typeface="Open Sans Bold"/>
              </a:rPr>
              <a:t>Fakt-cheking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va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Jurnalistik</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verifikatsiyaning</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farqi</a:t>
            </a:r>
            <a:r>
              <a:rPr lang="en-US" sz="2699" b="1" dirty="0">
                <a:solidFill>
                  <a:srgbClr val="03DDE4"/>
                </a:solidFill>
                <a:latin typeface="Open Sans Bold"/>
                <a:ea typeface="Open Sans Bold"/>
                <a:cs typeface="Open Sans Bold"/>
                <a:sym typeface="Open Sans Bold"/>
              </a:rPr>
              <a:t>:</a:t>
            </a:r>
          </a:p>
          <a:p>
            <a:pPr algn="just">
              <a:lnSpc>
                <a:spcPts val="4184"/>
              </a:lnSpc>
            </a:pPr>
            <a:r>
              <a:rPr lang="en-US" sz="2699" b="1" dirty="0" err="1">
                <a:solidFill>
                  <a:srgbClr val="03DDE4"/>
                </a:solidFill>
                <a:latin typeface="Open Sans Bold"/>
                <a:ea typeface="Open Sans Bold"/>
                <a:cs typeface="Open Sans Bold"/>
                <a:sym typeface="Open Sans Bold"/>
              </a:rPr>
              <a:t>Klassik</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verifikatsiya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Axborot</a:t>
            </a:r>
            <a:r>
              <a:rPr lang="en-US" sz="2699" b="1" dirty="0">
                <a:solidFill>
                  <a:srgbClr val="03DDE4"/>
                </a:solidFill>
                <a:latin typeface="Open Sans Bold"/>
                <a:ea typeface="Open Sans Bold"/>
                <a:cs typeface="Open Sans Bold"/>
                <a:sym typeface="Open Sans Bold"/>
              </a:rPr>
              <a:t> material (</a:t>
            </a:r>
            <a:r>
              <a:rPr lang="en-US" sz="2699" b="1" dirty="0" err="1">
                <a:solidFill>
                  <a:srgbClr val="03DDE4"/>
                </a:solidFill>
                <a:latin typeface="Open Sans Bold"/>
                <a:ea typeface="Open Sans Bold"/>
                <a:cs typeface="Open Sans Bold"/>
                <a:sym typeface="Open Sans Bold"/>
              </a:rPr>
              <a:t>maqola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lavha</a:t>
            </a:r>
            <a:r>
              <a:rPr lang="en-US" sz="2699" b="1" dirty="0">
                <a:solidFill>
                  <a:srgbClr val="03DDE4"/>
                </a:solidFill>
                <a:latin typeface="Open Sans Bold"/>
                <a:ea typeface="Open Sans Bold"/>
                <a:cs typeface="Open Sans Bold"/>
                <a:sym typeface="Open Sans Bold"/>
              </a:rPr>
              <a:t>) chop </a:t>
            </a:r>
            <a:r>
              <a:rPr lang="en-US" sz="2699" b="1" dirty="0" err="1">
                <a:solidFill>
                  <a:srgbClr val="03DDE4"/>
                </a:solidFill>
                <a:latin typeface="Open Sans Bold"/>
                <a:ea typeface="Open Sans Bold"/>
                <a:cs typeface="Open Sans Bold"/>
                <a:sym typeface="Open Sans Bold"/>
              </a:rPr>
              <a:t>etilgunga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qadar</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tahririyat</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ichida</a:t>
            </a:r>
            <a:r>
              <a:rPr lang="en-US" sz="2699" b="1" dirty="0">
                <a:solidFill>
                  <a:srgbClr val="03DDE4"/>
                </a:solidFill>
                <a:latin typeface="Open Sans Bold"/>
                <a:ea typeface="Open Sans Bold"/>
                <a:cs typeface="Open Sans Bold"/>
                <a:sym typeface="Open Sans Bold"/>
              </a:rPr>
              <a:t> </a:t>
            </a:r>
            <a:r>
              <a:rPr lang="en-US" sz="2699" b="1" dirty="0" err="1">
                <a:solidFill>
                  <a:srgbClr val="03DDE4"/>
                </a:solidFill>
                <a:latin typeface="Open Sans Bold"/>
                <a:ea typeface="Open Sans Bold"/>
                <a:cs typeface="Open Sans Bold"/>
                <a:sym typeface="Open Sans Bold"/>
              </a:rPr>
              <a:t>tekshiriladi</a:t>
            </a:r>
            <a:r>
              <a:rPr lang="en-US" sz="2699" b="1" dirty="0">
                <a:solidFill>
                  <a:srgbClr val="03DDE4"/>
                </a:solidFill>
                <a:latin typeface="Open Sans Bold"/>
                <a:ea typeface="Open Sans Bold"/>
                <a:cs typeface="Open Sans Bold"/>
                <a:sym typeface="Open Sans Bold"/>
              </a:rPr>
              <a:t>.</a:t>
            </a:r>
          </a:p>
          <a:p>
            <a:pPr marL="0" lvl="0" indent="0" algn="just">
              <a:lnSpc>
                <a:spcPts val="4804"/>
              </a:lnSpc>
            </a:pPr>
            <a:r>
              <a:rPr lang="en-US" sz="3099" b="1" dirty="0" err="1">
                <a:solidFill>
                  <a:srgbClr val="03DDE4"/>
                </a:solidFill>
                <a:latin typeface="Open Sans Bold"/>
                <a:ea typeface="Open Sans Bold"/>
                <a:cs typeface="Open Sans Bold"/>
                <a:sym typeface="Open Sans Bold"/>
              </a:rPr>
              <a:t>Fakt-cheking</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Axborot</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allaqachon</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ommaga</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e’lon</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qilinganidan</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keyin</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uning</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jamiyatga</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ta’sirini</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neytrallash</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yoki</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haqiqatni</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yuzaga</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chiqarish</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uchun</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ochiq</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manbalar</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yordamida</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tekshiriladi</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va</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natijasi</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tahliliy</a:t>
            </a:r>
            <a:r>
              <a:rPr lang="en-US" sz="3099" b="1" dirty="0">
                <a:solidFill>
                  <a:srgbClr val="03DDE4"/>
                </a:solidFill>
                <a:latin typeface="Open Sans Bold"/>
                <a:ea typeface="Open Sans Bold"/>
                <a:cs typeface="Open Sans Bold"/>
                <a:sym typeface="Open Sans Bold"/>
              </a:rPr>
              <a:t> material </a:t>
            </a:r>
            <a:r>
              <a:rPr lang="en-US" sz="3099" b="1" dirty="0" err="1">
                <a:solidFill>
                  <a:srgbClr val="03DDE4"/>
                </a:solidFill>
                <a:latin typeface="Open Sans Bold"/>
                <a:ea typeface="Open Sans Bold"/>
                <a:cs typeface="Open Sans Bold"/>
                <a:sym typeface="Open Sans Bold"/>
              </a:rPr>
              <a:t>sifatida</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e’lon</a:t>
            </a:r>
            <a:r>
              <a:rPr lang="en-US" sz="3099" b="1" dirty="0">
                <a:solidFill>
                  <a:srgbClr val="03DDE4"/>
                </a:solidFill>
                <a:latin typeface="Open Sans Bold"/>
                <a:ea typeface="Open Sans Bold"/>
                <a:cs typeface="Open Sans Bold"/>
                <a:sym typeface="Open Sans Bold"/>
              </a:rPr>
              <a:t> </a:t>
            </a:r>
            <a:r>
              <a:rPr lang="en-US" sz="3099" b="1" dirty="0" err="1">
                <a:solidFill>
                  <a:srgbClr val="03DDE4"/>
                </a:solidFill>
                <a:latin typeface="Open Sans Bold"/>
                <a:ea typeface="Open Sans Bold"/>
                <a:cs typeface="Open Sans Bold"/>
                <a:sym typeface="Open Sans Bold"/>
              </a:rPr>
              <a:t>qilinadi</a:t>
            </a:r>
            <a:r>
              <a:rPr lang="en-US" sz="3099" b="1" dirty="0">
                <a:solidFill>
                  <a:srgbClr val="03DDE4"/>
                </a:solidFill>
                <a:latin typeface="Open Sans Bold"/>
                <a:ea typeface="Open Sans Bold"/>
                <a:cs typeface="Open Sans Bold"/>
                <a:sym typeface="Open Sans Bold"/>
              </a:rPr>
              <a:t>.</a:t>
            </a:r>
          </a:p>
        </p:txBody>
      </p:sp>
      <p:grpSp>
        <p:nvGrpSpPr>
          <p:cNvPr id="6" name="Group 6"/>
          <p:cNvGrpSpPr/>
          <p:nvPr/>
        </p:nvGrpSpPr>
        <p:grpSpPr>
          <a:xfrm>
            <a:off x="15740861" y="6749958"/>
            <a:ext cx="4596322" cy="459632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62000" cap="sq">
              <a:solidFill>
                <a:srgbClr val="F6F6F6"/>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5324660" y="9048119"/>
            <a:ext cx="596043" cy="59604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FFFFFF"/>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57766" y="7109187"/>
            <a:ext cx="11830234" cy="3177813"/>
            <a:chOff x="0" y="0"/>
            <a:chExt cx="9347345" cy="2510865"/>
          </a:xfrm>
        </p:grpSpPr>
        <p:sp>
          <p:nvSpPr>
            <p:cNvPr id="3" name="Freeform 3"/>
            <p:cNvSpPr/>
            <p:nvPr/>
          </p:nvSpPr>
          <p:spPr>
            <a:xfrm>
              <a:off x="0" y="0"/>
              <a:ext cx="9347345" cy="2510865"/>
            </a:xfrm>
            <a:custGeom>
              <a:avLst/>
              <a:gdLst/>
              <a:ahLst/>
              <a:cxnLst/>
              <a:rect l="l" t="t" r="r" b="b"/>
              <a:pathLst>
                <a:path w="9347345" h="2510865">
                  <a:moveTo>
                    <a:pt x="0" y="0"/>
                  </a:moveTo>
                  <a:lnTo>
                    <a:pt x="9347345" y="0"/>
                  </a:lnTo>
                  <a:lnTo>
                    <a:pt x="9347345" y="2510865"/>
                  </a:lnTo>
                  <a:lnTo>
                    <a:pt x="0" y="2510865"/>
                  </a:lnTo>
                  <a:close/>
                </a:path>
              </a:pathLst>
            </a:custGeom>
            <a:solidFill>
              <a:srgbClr val="F6F6F6"/>
            </a:solidFill>
          </p:spPr>
        </p:sp>
        <p:sp>
          <p:nvSpPr>
            <p:cNvPr id="4" name="TextBox 4"/>
            <p:cNvSpPr txBox="1"/>
            <p:nvPr/>
          </p:nvSpPr>
          <p:spPr>
            <a:xfrm>
              <a:off x="0" y="-38100"/>
              <a:ext cx="9347345" cy="25489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0"/>
            <a:ext cx="5429066" cy="10287000"/>
            <a:chOff x="0" y="0"/>
            <a:chExt cx="7238755" cy="13716000"/>
          </a:xfrm>
        </p:grpSpPr>
        <p:pic>
          <p:nvPicPr>
            <p:cNvPr id="6" name="Picture 6"/>
            <p:cNvPicPr>
              <a:picLocks noChangeAspect="1"/>
            </p:cNvPicPr>
            <p:nvPr/>
          </p:nvPicPr>
          <p:blipFill>
            <a:blip r:embed="rId2"/>
            <a:srcRect l="17004" r="49284"/>
            <a:stretch>
              <a:fillRect/>
            </a:stretch>
          </p:blipFill>
          <p:spPr>
            <a:xfrm>
              <a:off x="0" y="0"/>
              <a:ext cx="7238755" cy="13716000"/>
            </a:xfrm>
            <a:prstGeom prst="rect">
              <a:avLst/>
            </a:prstGeom>
          </p:spPr>
        </p:pic>
      </p:grpSp>
      <p:grpSp>
        <p:nvGrpSpPr>
          <p:cNvPr id="7" name="Group 7"/>
          <p:cNvGrpSpPr/>
          <p:nvPr/>
        </p:nvGrpSpPr>
        <p:grpSpPr>
          <a:xfrm>
            <a:off x="17259300" y="0"/>
            <a:ext cx="1694792" cy="10287000"/>
            <a:chOff x="0" y="0"/>
            <a:chExt cx="446365" cy="2709333"/>
          </a:xfrm>
        </p:grpSpPr>
        <p:sp>
          <p:nvSpPr>
            <p:cNvPr id="8" name="Freeform 8"/>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9" name="TextBox 9"/>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7109187"/>
            <a:ext cx="1028700" cy="3177813"/>
            <a:chOff x="0" y="0"/>
            <a:chExt cx="812800" cy="2510865"/>
          </a:xfrm>
        </p:grpSpPr>
        <p:sp>
          <p:nvSpPr>
            <p:cNvPr id="11" name="Freeform 11"/>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12" name="TextBox 12"/>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0"/>
            <a:ext cx="1028700" cy="1028700"/>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6999991" y="618666"/>
            <a:ext cx="969409" cy="969409"/>
            <a:chOff x="0" y="0"/>
            <a:chExt cx="812800" cy="812800"/>
          </a:xfrm>
        </p:grpSpPr>
        <p:sp>
          <p:nvSpPr>
            <p:cNvPr id="17" name="Freeform 17"/>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18" name="TextBox 18"/>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01</a:t>
              </a:r>
            </a:p>
          </p:txBody>
        </p:sp>
      </p:grpSp>
      <p:grpSp>
        <p:nvGrpSpPr>
          <p:cNvPr id="19" name="Group 19"/>
          <p:cNvGrpSpPr/>
          <p:nvPr/>
        </p:nvGrpSpPr>
        <p:grpSpPr>
          <a:xfrm>
            <a:off x="6999991" y="2681541"/>
            <a:ext cx="969409" cy="969409"/>
            <a:chOff x="0" y="0"/>
            <a:chExt cx="812800" cy="812800"/>
          </a:xfrm>
        </p:grpSpPr>
        <p:sp>
          <p:nvSpPr>
            <p:cNvPr id="20" name="Freeform 2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1" name="TextBox 21"/>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02</a:t>
              </a:r>
            </a:p>
          </p:txBody>
        </p:sp>
      </p:grpSp>
      <p:grpSp>
        <p:nvGrpSpPr>
          <p:cNvPr id="22" name="Group 22"/>
          <p:cNvGrpSpPr/>
          <p:nvPr/>
        </p:nvGrpSpPr>
        <p:grpSpPr>
          <a:xfrm>
            <a:off x="6999991" y="4658796"/>
            <a:ext cx="969409" cy="969409"/>
            <a:chOff x="0" y="0"/>
            <a:chExt cx="812800" cy="812800"/>
          </a:xfrm>
        </p:grpSpPr>
        <p:sp>
          <p:nvSpPr>
            <p:cNvPr id="23" name="Freeform 23"/>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4" name="TextBox 24"/>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03</a:t>
              </a:r>
            </a:p>
          </p:txBody>
        </p:sp>
      </p:grpSp>
      <p:grpSp>
        <p:nvGrpSpPr>
          <p:cNvPr id="25" name="Group 25"/>
          <p:cNvGrpSpPr/>
          <p:nvPr/>
        </p:nvGrpSpPr>
        <p:grpSpPr>
          <a:xfrm>
            <a:off x="6999991" y="6440292"/>
            <a:ext cx="969409" cy="969409"/>
            <a:chOff x="0" y="0"/>
            <a:chExt cx="812800" cy="812800"/>
          </a:xfrm>
        </p:grpSpPr>
        <p:sp>
          <p:nvSpPr>
            <p:cNvPr id="26" name="Freeform 26"/>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7" name="TextBox 27"/>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04</a:t>
              </a:r>
            </a:p>
          </p:txBody>
        </p:sp>
      </p:grpSp>
      <p:grpSp>
        <p:nvGrpSpPr>
          <p:cNvPr id="28" name="Group 28"/>
          <p:cNvGrpSpPr/>
          <p:nvPr/>
        </p:nvGrpSpPr>
        <p:grpSpPr>
          <a:xfrm>
            <a:off x="15011231" y="1028700"/>
            <a:ext cx="1652841" cy="1652841"/>
            <a:chOff x="0" y="0"/>
            <a:chExt cx="812800" cy="812800"/>
          </a:xfrm>
        </p:grpSpPr>
        <p:sp>
          <p:nvSpPr>
            <p:cNvPr id="29" name="Freeform 29"/>
            <p:cNvSpPr/>
            <p:nvPr/>
          </p:nvSpPr>
          <p:spPr>
            <a:xfrm>
              <a:off x="0" y="0"/>
              <a:ext cx="812800" cy="812800"/>
            </a:xfrm>
            <a:custGeom>
              <a:avLst/>
              <a:gdLst/>
              <a:ahLst/>
              <a:cxnLst/>
              <a:rect l="l" t="t" r="r" b="b"/>
              <a:pathLst>
                <a:path w="812800" h="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id="30" name="TextBox 3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4814124" y="816351"/>
            <a:ext cx="771724" cy="771724"/>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0345E4">
                  <a:alpha val="40000"/>
                </a:srgbClr>
              </a:solidFill>
              <a:prstDash val="solid"/>
              <a:miter/>
            </a:ln>
          </p:spPr>
        </p:sp>
        <p:sp>
          <p:nvSpPr>
            <p:cNvPr id="33" name="TextBox 3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12919457" y="8414693"/>
            <a:ext cx="3744615" cy="374461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0345E4">
                  <a:alpha val="19608"/>
                </a:srgbClr>
              </a:solidFill>
              <a:prstDash val="solid"/>
              <a:miter/>
            </a:ln>
          </p:spPr>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8416105" y="317006"/>
            <a:ext cx="8396489" cy="2174875"/>
          </a:xfrm>
          <a:prstGeom prst="rect">
            <a:avLst/>
          </a:prstGeom>
        </p:spPr>
        <p:txBody>
          <a:bodyPr lIns="0" tIns="0" rIns="0" bIns="0" rtlCol="0" anchor="t">
            <a:spAutoFit/>
          </a:bodyPr>
          <a:lstStyle/>
          <a:p>
            <a:pPr algn="just">
              <a:lnSpc>
                <a:spcPts val="3499"/>
              </a:lnSpc>
            </a:pPr>
            <a:r>
              <a:rPr lang="en-US" sz="2499" dirty="0" err="1">
                <a:solidFill>
                  <a:srgbClr val="000000"/>
                </a:solidFill>
                <a:latin typeface="Garet"/>
                <a:ea typeface="Garet"/>
                <a:cs typeface="Garet"/>
                <a:sym typeface="Garet"/>
              </a:rPr>
              <a:t>Xolislik</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va</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adolatlilik</a:t>
            </a:r>
            <a:r>
              <a:rPr lang="en-US" sz="2499" dirty="0">
                <a:solidFill>
                  <a:srgbClr val="000000"/>
                </a:solidFill>
                <a:latin typeface="Garet"/>
                <a:ea typeface="Garet"/>
                <a:cs typeface="Garet"/>
                <a:sym typeface="Garet"/>
              </a:rPr>
              <a:t> (Neutrality and Fairness): </a:t>
            </a:r>
            <a:r>
              <a:rPr lang="en-US" sz="2499" dirty="0" err="1">
                <a:solidFill>
                  <a:srgbClr val="000000"/>
                </a:solidFill>
                <a:latin typeface="Garet"/>
                <a:ea typeface="Garet"/>
                <a:cs typeface="Garet"/>
                <a:sym typeface="Garet"/>
              </a:rPr>
              <a:t>Fakt-cheker</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har</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qanday</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siyosiy</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iqtisodiy</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yoki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g‘oyaviy</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qarashlardan</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ustun</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turishi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kerak</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Tekshiruv</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obyekti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kim</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bo‘lishidan</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qat’i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nazar</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hukumat</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vakilimi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yoki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muxolifat</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bir</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xil</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standartlar</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qo‘llanadi</a:t>
            </a:r>
            <a:r>
              <a:rPr lang="en-US" sz="2499" dirty="0">
                <a:solidFill>
                  <a:srgbClr val="000000"/>
                </a:solidFill>
                <a:latin typeface="Garet"/>
                <a:ea typeface="Garet"/>
                <a:cs typeface="Garet"/>
                <a:sym typeface="Garet"/>
              </a:rPr>
              <a:t>.</a:t>
            </a:r>
          </a:p>
        </p:txBody>
      </p:sp>
      <p:sp>
        <p:nvSpPr>
          <p:cNvPr id="38" name="TextBox 38"/>
          <p:cNvSpPr txBox="1"/>
          <p:nvPr/>
        </p:nvSpPr>
        <p:spPr>
          <a:xfrm>
            <a:off x="8416105" y="2487558"/>
            <a:ext cx="8362063" cy="2174875"/>
          </a:xfrm>
          <a:prstGeom prst="rect">
            <a:avLst/>
          </a:prstGeom>
        </p:spPr>
        <p:txBody>
          <a:bodyPr lIns="0" tIns="0" rIns="0" bIns="0" rtlCol="0" anchor="t">
            <a:spAutoFit/>
          </a:bodyPr>
          <a:lstStyle/>
          <a:p>
            <a:pPr algn="l">
              <a:lnSpc>
                <a:spcPts val="3499"/>
              </a:lnSpc>
            </a:pPr>
            <a:r>
              <a:rPr lang="en-US" sz="2499" dirty="0" err="1">
                <a:solidFill>
                  <a:srgbClr val="000000"/>
                </a:solidFill>
                <a:latin typeface="Garet"/>
                <a:ea typeface="Garet"/>
                <a:cs typeface="Garet"/>
                <a:sym typeface="Garet"/>
              </a:rPr>
              <a:t>Manbalarning</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shaffofligi</a:t>
            </a:r>
            <a:r>
              <a:rPr lang="en-US" sz="2499" dirty="0">
                <a:solidFill>
                  <a:srgbClr val="000000"/>
                </a:solidFill>
                <a:latin typeface="Garet"/>
                <a:ea typeface="Garet"/>
                <a:cs typeface="Garet"/>
                <a:sym typeface="Garet"/>
              </a:rPr>
              <a:t> (Transparency of Sources): </a:t>
            </a:r>
            <a:r>
              <a:rPr lang="en-US" sz="2499" dirty="0" err="1">
                <a:solidFill>
                  <a:srgbClr val="000000"/>
                </a:solidFill>
                <a:latin typeface="Garet"/>
                <a:ea typeface="Garet"/>
                <a:cs typeface="Garet"/>
                <a:sym typeface="Garet"/>
              </a:rPr>
              <a:t>O‘quvchi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fakt-cheker</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xulosaga</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kelishda</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qaysi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manbalardan</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foydalanganini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aniq</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ko‘rishi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va</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o‘zi</a:t>
            </a:r>
            <a:r>
              <a:rPr lang="en-US" sz="2499" dirty="0">
                <a:solidFill>
                  <a:srgbClr val="000000"/>
                </a:solidFill>
                <a:latin typeface="Garet"/>
                <a:ea typeface="Garet"/>
                <a:cs typeface="Garet"/>
                <a:sym typeface="Garet"/>
              </a:rPr>
              <a:t> ham </a:t>
            </a:r>
            <a:r>
              <a:rPr lang="en-US" sz="2499" dirty="0" err="1">
                <a:solidFill>
                  <a:srgbClr val="000000"/>
                </a:solidFill>
                <a:latin typeface="Garet"/>
                <a:ea typeface="Garet"/>
                <a:cs typeface="Garet"/>
                <a:sym typeface="Garet"/>
              </a:rPr>
              <a:t>shu</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jarayonni</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mustaqil</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takrorlay</a:t>
            </a:r>
            <a:r>
              <a:rPr lang="en-US" sz="2499" dirty="0">
                <a:solidFill>
                  <a:srgbClr val="000000"/>
                </a:solidFill>
                <a:latin typeface="Garet"/>
                <a:ea typeface="Garet"/>
                <a:cs typeface="Garet"/>
                <a:sym typeface="Garet"/>
              </a:rPr>
              <a:t> </a:t>
            </a:r>
            <a:r>
              <a:rPr lang="en-US" sz="2499" dirty="0" err="1">
                <a:solidFill>
                  <a:srgbClr val="000000"/>
                </a:solidFill>
                <a:latin typeface="Garet"/>
                <a:ea typeface="Garet"/>
                <a:cs typeface="Garet"/>
                <a:sym typeface="Garet"/>
              </a:rPr>
              <a:t>olishi</a:t>
            </a:r>
            <a:r>
              <a:rPr lang="en-US" sz="2499" dirty="0">
                <a:solidFill>
                  <a:srgbClr val="000000"/>
                </a:solidFill>
                <a:latin typeface="Garet"/>
                <a:ea typeface="Garet"/>
                <a:cs typeface="Garet"/>
                <a:sym typeface="Garet"/>
              </a:rPr>
              <a:t> (replicate) </a:t>
            </a:r>
            <a:r>
              <a:rPr lang="en-US" sz="2499" dirty="0" err="1">
                <a:solidFill>
                  <a:srgbClr val="000000"/>
                </a:solidFill>
                <a:latin typeface="Garet"/>
                <a:ea typeface="Garet"/>
                <a:cs typeface="Garet"/>
                <a:sym typeface="Garet"/>
              </a:rPr>
              <a:t>kerak</a:t>
            </a:r>
            <a:r>
              <a:rPr lang="en-US" sz="2499" dirty="0">
                <a:solidFill>
                  <a:srgbClr val="000000"/>
                </a:solidFill>
                <a:latin typeface="Garet"/>
                <a:ea typeface="Garet"/>
                <a:cs typeface="Garet"/>
                <a:sym typeface="Garet"/>
              </a:rPr>
              <a:t>.</a:t>
            </a:r>
          </a:p>
        </p:txBody>
      </p:sp>
      <p:sp>
        <p:nvSpPr>
          <p:cNvPr id="39" name="TextBox 39"/>
          <p:cNvSpPr txBox="1"/>
          <p:nvPr/>
        </p:nvSpPr>
        <p:spPr>
          <a:xfrm>
            <a:off x="8289560" y="4655942"/>
            <a:ext cx="8946707" cy="173672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Moliyalashtirish va tashkiliy tuzilmaning shaffofligi: Tashkilot kim tomonidan moliyalashtirilayotgani ochiq ko‘rsatiladi, bu esa buyurtma xulosalar chiqarishning oldini oladi.</a:t>
            </a:r>
          </a:p>
        </p:txBody>
      </p:sp>
      <p:sp>
        <p:nvSpPr>
          <p:cNvPr id="40" name="TextBox 40"/>
          <p:cNvSpPr txBox="1"/>
          <p:nvPr/>
        </p:nvSpPr>
        <p:spPr>
          <a:xfrm>
            <a:off x="8289560" y="6392667"/>
            <a:ext cx="8843195" cy="3051175"/>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Metodologiyaning shaffofligi: Faktlarni tanlab olish, tadqiq qilish va baholash mezonlari jamoatchilikka oldindan ma’lum bo‘lishi shart.</a:t>
            </a:r>
          </a:p>
          <a:p>
            <a:pPr algn="l">
              <a:lnSpc>
                <a:spcPts val="3499"/>
              </a:lnSpc>
            </a:pPr>
            <a:r>
              <a:rPr lang="en-US" sz="2499">
                <a:solidFill>
                  <a:srgbClr val="000000"/>
                </a:solidFill>
                <a:latin typeface="Garet"/>
                <a:ea typeface="Garet"/>
                <a:cs typeface="Garet"/>
                <a:sym typeface="Garet"/>
              </a:rPr>
              <a:t>Xatolarni tuzatish bo‘yicha ochiq siyosat: Agar fakt-cheker o‘z surishtiruvida xatoga yo‘l qo‘ygan bo‘lsa, uni yashirmasdan, ochiq tan oladi va tuzatilgan variantni e’lon qiladi.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8408" y="0"/>
            <a:ext cx="6416679" cy="10287000"/>
            <a:chOff x="0" y="0"/>
            <a:chExt cx="1689989" cy="2709333"/>
          </a:xfrm>
        </p:grpSpPr>
        <p:sp>
          <p:nvSpPr>
            <p:cNvPr id="3" name="Freeform 3"/>
            <p:cNvSpPr/>
            <p:nvPr/>
          </p:nvSpPr>
          <p:spPr>
            <a:xfrm>
              <a:off x="0" y="0"/>
              <a:ext cx="1689989" cy="2709333"/>
            </a:xfrm>
            <a:custGeom>
              <a:avLst/>
              <a:gdLst/>
              <a:ahLst/>
              <a:cxnLst/>
              <a:rect l="l" t="t" r="r" b="b"/>
              <a:pathLst>
                <a:path w="1689989" h="2709333">
                  <a:moveTo>
                    <a:pt x="0" y="0"/>
                  </a:moveTo>
                  <a:lnTo>
                    <a:pt x="1689989" y="0"/>
                  </a:lnTo>
                  <a:lnTo>
                    <a:pt x="1689989" y="2709333"/>
                  </a:lnTo>
                  <a:lnTo>
                    <a:pt x="0" y="2709333"/>
                  </a:lnTo>
                  <a:close/>
                </a:path>
              </a:pathLst>
            </a:custGeom>
            <a:solidFill>
              <a:srgbClr val="0345E4"/>
            </a:solidFill>
          </p:spPr>
        </p:sp>
        <p:sp>
          <p:nvSpPr>
            <p:cNvPr id="4" name="TextBox 4"/>
            <p:cNvSpPr txBox="1"/>
            <p:nvPr/>
          </p:nvSpPr>
          <p:spPr>
            <a:xfrm>
              <a:off x="0" y="-38100"/>
              <a:ext cx="1689989" cy="2747433"/>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916626" y="2671279"/>
            <a:ext cx="1310100" cy="0"/>
          </a:xfrm>
          <a:prstGeom prst="line">
            <a:avLst/>
          </a:prstGeom>
          <a:ln w="95250" cap="flat">
            <a:solidFill>
              <a:srgbClr val="FFFFFF"/>
            </a:solidFill>
            <a:prstDash val="solid"/>
            <a:headEnd type="none" w="sm" len="sm"/>
            <a:tailEnd type="none" w="sm" len="sm"/>
          </a:ln>
        </p:spPr>
      </p:sp>
      <p:sp>
        <p:nvSpPr>
          <p:cNvPr id="6" name="Freeform 6"/>
          <p:cNvSpPr/>
          <p:nvPr/>
        </p:nvSpPr>
        <p:spPr>
          <a:xfrm>
            <a:off x="916626" y="901645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916626" y="367185"/>
            <a:ext cx="4568944" cy="262572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FAKT CHEKING TARIXI </a:t>
            </a:r>
          </a:p>
        </p:txBody>
      </p:sp>
      <p:sp>
        <p:nvSpPr>
          <p:cNvPr id="8" name="TextBox 8"/>
          <p:cNvSpPr txBox="1"/>
          <p:nvPr/>
        </p:nvSpPr>
        <p:spPr>
          <a:xfrm>
            <a:off x="1370051" y="3219568"/>
            <a:ext cx="15269712" cy="5484504"/>
          </a:xfrm>
          <a:prstGeom prst="rect">
            <a:avLst/>
          </a:prstGeom>
        </p:spPr>
        <p:txBody>
          <a:bodyPr lIns="0" tIns="0" rIns="0" bIns="0" rtlCol="0" anchor="t">
            <a:spAutoFit/>
          </a:bodyPr>
          <a:lstStyle/>
          <a:p>
            <a:pPr marL="0" lvl="0" indent="0" algn="just">
              <a:lnSpc>
                <a:spcPts val="4383"/>
              </a:lnSpc>
            </a:pPr>
            <a:r>
              <a:rPr lang="en-US" sz="2828" b="1">
                <a:solidFill>
                  <a:srgbClr val="000000"/>
                </a:solidFill>
                <a:latin typeface="Open Sans Bold"/>
                <a:ea typeface="Open Sans Bold"/>
                <a:cs typeface="Open Sans Bold"/>
                <a:sym typeface="Open Sans Bold"/>
              </a:rPr>
              <a:t>1850-yillarda va keyinchalik </a:t>
            </a:r>
            <a:r>
              <a:rPr lang="en-US" sz="2828" b="1" u="sng">
                <a:solidFill>
                  <a:srgbClr val="000000"/>
                </a:solidFill>
                <a:latin typeface="Open Sans Bold"/>
                <a:ea typeface="Open Sans Bold"/>
                <a:cs typeface="Open Sans Bold"/>
                <a:sym typeface="Open Sans Bold"/>
                <a:hlinkClick r:id="rId4" tooltip="https://uz.wikipedia.org/wiki/Sensatsiya?action=edit&amp;redlink=1"/>
              </a:rPr>
              <a:t>sensatsion</a:t>
            </a:r>
            <a:r>
              <a:rPr lang="en-US" sz="2828" b="1">
                <a:solidFill>
                  <a:srgbClr val="000000"/>
                </a:solidFill>
                <a:latin typeface="Open Sans Bold"/>
                <a:ea typeface="Open Sans Bold"/>
                <a:cs typeface="Open Sans Bold"/>
                <a:sym typeface="Open Sans Bold"/>
              </a:rPr>
              <a:t> gazetalarning ommalashishi koʻproq faktik ommaviy axborot vositalariga boʻlgan ehtiyojni keltirib chiqardi. Colin Dickey faktlarni tekshirishning keyingi </a:t>
            </a:r>
            <a:r>
              <a:rPr lang="en-US" sz="2828" b="1" u="sng">
                <a:solidFill>
                  <a:srgbClr val="000000"/>
                </a:solidFill>
                <a:latin typeface="Open Sans Bold"/>
                <a:ea typeface="Open Sans Bold"/>
                <a:cs typeface="Open Sans Bold"/>
                <a:sym typeface="Open Sans Bold"/>
                <a:hlinkClick r:id="rId5" tooltip="https://uz.wikipedia.org/wiki/Evolutsiya"/>
              </a:rPr>
              <a:t>evolyutsiyasini</a:t>
            </a:r>
            <a:r>
              <a:rPr lang="en-US" sz="2828" b="1">
                <a:solidFill>
                  <a:srgbClr val="000000"/>
                </a:solidFill>
                <a:latin typeface="Open Sans Bold"/>
                <a:ea typeface="Open Sans Bold"/>
                <a:cs typeface="Open Sans Bold"/>
                <a:sym typeface="Open Sans Bold"/>
              </a:rPr>
              <a:t> tasvirlab berdi</a:t>
            </a:r>
            <a:r>
              <a:rPr lang="en-US" sz="2828" b="1" u="sng">
                <a:solidFill>
                  <a:srgbClr val="000000"/>
                </a:solidFill>
                <a:latin typeface="Open Sans Bold"/>
                <a:ea typeface="Open Sans Bold"/>
                <a:cs typeface="Open Sans Bold"/>
                <a:sym typeface="Open Sans Bold"/>
                <a:hlinkClick r:id="rId6" tooltip="https://uz.wikipedia.org/wiki/Faktcheking#cite_note-9"/>
              </a:rPr>
              <a:t>[9]</a:t>
            </a:r>
            <a:r>
              <a:rPr lang="en-US" sz="2828" b="1">
                <a:solidFill>
                  <a:srgbClr val="000000"/>
                </a:solidFill>
                <a:latin typeface="Open Sans Bold"/>
                <a:ea typeface="Open Sans Bold"/>
                <a:cs typeface="Open Sans Bold"/>
                <a:sym typeface="Open Sans Bold"/>
              </a:rPr>
              <a:t>. Asosiy elementlar 1850-yillarda </a:t>
            </a:r>
            <a:r>
              <a:rPr lang="en-US" sz="2828" b="1" u="sng">
                <a:solidFill>
                  <a:srgbClr val="000000"/>
                </a:solidFill>
                <a:latin typeface="Open Sans Bold"/>
                <a:ea typeface="Open Sans Bold"/>
                <a:cs typeface="Open Sans Bold"/>
                <a:sym typeface="Open Sans Bold"/>
                <a:hlinkClick r:id="rId7" tooltip="https://uz.wikipedia.org/wiki/Associated_Press"/>
              </a:rPr>
              <a:t>Associated Pressning</a:t>
            </a:r>
            <a:r>
              <a:rPr lang="en-US" sz="2828" b="1">
                <a:solidFill>
                  <a:srgbClr val="000000"/>
                </a:solidFill>
                <a:latin typeface="Open Sans Bold"/>
                <a:ea typeface="Open Sans Bold"/>
                <a:cs typeface="Open Sans Bold"/>
                <a:sym typeface="Open Sans Bold"/>
              </a:rPr>
              <a:t> tashkil etilishi (qisqa faktik materiallar kerak edi), New York dunyosidan </a:t>
            </a:r>
            <a:r>
              <a:rPr lang="en-US" sz="2828" b="1" u="sng">
                <a:solidFill>
                  <a:srgbClr val="000000"/>
                </a:solidFill>
                <a:latin typeface="Open Sans Bold"/>
                <a:ea typeface="Open Sans Bold"/>
                <a:cs typeface="Open Sans Bold"/>
                <a:sym typeface="Open Sans Bold"/>
                <a:hlinkClick r:id="rId8" tooltip="https://uz.wikipedia.org/wiki/Ralph_Pulitzer?action=edit&amp;redlink=1"/>
              </a:rPr>
              <a:t>Ralph Pulitzer</a:t>
            </a:r>
            <a:r>
              <a:rPr lang="en-US" sz="2828" b="1">
                <a:solidFill>
                  <a:srgbClr val="000000"/>
                </a:solidFill>
                <a:latin typeface="Open Sans Bold"/>
                <a:ea typeface="Open Sans Bold"/>
                <a:cs typeface="Open Sans Bold"/>
                <a:sym typeface="Open Sans Bold"/>
              </a:rPr>
              <a:t> (uning Aniqlik va adolatli oʻyin byurosi, 1912), Henry Luce va </a:t>
            </a:r>
            <a:r>
              <a:rPr lang="en-US" sz="2828" b="1" u="sng">
                <a:solidFill>
                  <a:srgbClr val="000000"/>
                </a:solidFill>
                <a:latin typeface="Open Sans Bold"/>
                <a:ea typeface="Open Sans Bold"/>
                <a:cs typeface="Open Sans Bold"/>
                <a:sym typeface="Open Sans Bold"/>
                <a:hlinkClick r:id="rId9" tooltip="https://uz.wikipedia.org/wiki/Time_(jurnal)"/>
              </a:rPr>
              <a:t>Time jurnali</a:t>
            </a:r>
            <a:r>
              <a:rPr lang="en-US" sz="2828" b="1">
                <a:solidFill>
                  <a:srgbClr val="000000"/>
                </a:solidFill>
                <a:latin typeface="Open Sans Bold"/>
                <a:ea typeface="Open Sans Bold"/>
                <a:cs typeface="Open Sans Bold"/>
                <a:sym typeface="Open Sans Bold"/>
              </a:rPr>
              <a:t> (asl ishchi nomi: Faktlar) va </a:t>
            </a:r>
            <a:r>
              <a:rPr lang="en-US" sz="2828" b="1" u="sng">
                <a:solidFill>
                  <a:srgbClr val="000000"/>
                </a:solidFill>
                <a:latin typeface="Open Sans Bold"/>
                <a:ea typeface="Open Sans Bold"/>
                <a:cs typeface="Open Sans Bold"/>
                <a:sym typeface="Open Sans Bold"/>
                <a:hlinkClick r:id="rId10" tooltip="https://uz.wikipedia.org/wiki/The_New_Yorker?action=edit&amp;redlink=1"/>
              </a:rPr>
              <a:t>The New Yorkerning</a:t>
            </a:r>
            <a:r>
              <a:rPr lang="en-US" sz="2828" b="1">
                <a:solidFill>
                  <a:srgbClr val="000000"/>
                </a:solidFill>
                <a:latin typeface="Open Sans Bold"/>
                <a:ea typeface="Open Sans Bold"/>
                <a:cs typeface="Open Sans Bold"/>
                <a:sym typeface="Open Sans Bold"/>
              </a:rPr>
              <a:t> mashhur faktlarni tekshirish boʻlimi boʻldi. Tez orada asosiy ommaviy axborot vositalari onlayn </a:t>
            </a:r>
            <a:r>
              <a:rPr lang="en-US" sz="2828" b="1" u="sng">
                <a:solidFill>
                  <a:srgbClr val="000000"/>
                </a:solidFill>
                <a:latin typeface="Open Sans Bold"/>
                <a:ea typeface="Open Sans Bold"/>
                <a:cs typeface="Open Sans Bold"/>
                <a:sym typeface="Open Sans Bold"/>
                <a:hlinkClick r:id="rId11" tooltip="https://uz.wikipedia.org/wiki/Startap?action=edit&amp;redlink=1"/>
              </a:rPr>
              <a:t>startaplar</a:t>
            </a:r>
            <a:r>
              <a:rPr lang="en-US" sz="2828" b="1">
                <a:solidFill>
                  <a:srgbClr val="000000"/>
                </a:solidFill>
                <a:latin typeface="Open Sans Bold"/>
                <a:ea typeface="Open Sans Bold"/>
                <a:cs typeface="Open Sans Bold"/>
                <a:sym typeface="Open Sans Bold"/>
              </a:rPr>
              <a:t> tomonidan jiddiy iqtisodiy tahdid ostida qoldi. Bundan tashqari, hozirda ham </a:t>
            </a:r>
            <a:r>
              <a:rPr lang="en-US" sz="2828" b="1" u="sng">
                <a:solidFill>
                  <a:srgbClr val="000000"/>
                </a:solidFill>
                <a:latin typeface="Open Sans Bold"/>
                <a:ea typeface="Open Sans Bold"/>
                <a:cs typeface="Open Sans Bold"/>
                <a:sym typeface="Open Sans Bold"/>
                <a:hlinkClick r:id="rId12" tooltip="https://uz.wikipedia.org/wiki/Ijtimoiy_tarmoqlar?action=edit&amp;redlink=1"/>
              </a:rPr>
              <a:t>ijtimoiy tarmoqlar</a:t>
            </a:r>
            <a:r>
              <a:rPr lang="en-US" sz="2828" b="1">
                <a:solidFill>
                  <a:srgbClr val="000000"/>
                </a:solidFill>
                <a:latin typeface="Open Sans Bold"/>
                <a:ea typeface="Open Sans Bold"/>
                <a:cs typeface="Open Sans Bold"/>
                <a:sym typeface="Open Sans Bold"/>
              </a:rPr>
              <a:t> orqali notoʻgʻri maʼlumotlar va </a:t>
            </a:r>
            <a:r>
              <a:rPr lang="en-US" sz="2828" b="1" u="sng">
                <a:solidFill>
                  <a:srgbClr val="000000"/>
                </a:solidFill>
                <a:latin typeface="Open Sans Bold"/>
                <a:ea typeface="Open Sans Bold"/>
                <a:cs typeface="Open Sans Bold"/>
                <a:sym typeface="Open Sans Bold"/>
                <a:hlinkClick r:id="rId13" tooltip="https://uz.wikipedia.org/wiki/Fitna_nazariyalari"/>
              </a:rPr>
              <a:t>fitna nazariyalarining</a:t>
            </a:r>
            <a:r>
              <a:rPr lang="en-US" sz="2828" b="1">
                <a:solidFill>
                  <a:srgbClr val="000000"/>
                </a:solidFill>
                <a:latin typeface="Open Sans Bold"/>
                <a:ea typeface="Open Sans Bold"/>
                <a:cs typeface="Open Sans Bold"/>
                <a:sym typeface="Open Sans Bold"/>
              </a:rPr>
              <a:t> tez tarqalishi asta-sekin asosiy ommaviy axborot vositalariga kirib bormoqda.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 b="-8888"/>
            </a:stretch>
          </a:blipFill>
        </p:spPr>
      </p:sp>
      <p:sp>
        <p:nvSpPr>
          <p:cNvPr id="3" name="TextBox 3"/>
          <p:cNvSpPr txBox="1"/>
          <p:nvPr/>
        </p:nvSpPr>
        <p:spPr>
          <a:xfrm>
            <a:off x="1439617" y="1114190"/>
            <a:ext cx="14946518" cy="8545198"/>
          </a:xfrm>
          <a:prstGeom prst="rect">
            <a:avLst/>
          </a:prstGeom>
        </p:spPr>
        <p:txBody>
          <a:bodyPr lIns="0" tIns="0" rIns="0" bIns="0" rtlCol="0" anchor="t">
            <a:spAutoFit/>
          </a:bodyPr>
          <a:lstStyle/>
          <a:p>
            <a:pPr algn="ctr">
              <a:lnSpc>
                <a:spcPts val="7599"/>
              </a:lnSpc>
            </a:pPr>
            <a:r>
              <a:rPr lang="en-US" sz="3799">
                <a:solidFill>
                  <a:srgbClr val="FFFFFF"/>
                </a:solidFill>
                <a:latin typeface="Open Sans"/>
                <a:ea typeface="Open Sans"/>
                <a:cs typeface="Open Sans"/>
                <a:sym typeface="Open Sans"/>
              </a:rPr>
              <a:t>Axborot makonidagi feyklar asosan uchta formatda bo‘ladi: matn, vizual (foto) va video. Ularning har birini tekshirishning o‘z algoritmi bor.</a:t>
            </a:r>
          </a:p>
          <a:p>
            <a:pPr algn="just">
              <a:lnSpc>
                <a:spcPts val="7599"/>
              </a:lnSpc>
            </a:pPr>
            <a:r>
              <a:rPr lang="en-US" sz="3799">
                <a:solidFill>
                  <a:srgbClr val="FFFFFF"/>
                </a:solidFill>
                <a:latin typeface="Open Sans"/>
                <a:ea typeface="Open Sans"/>
                <a:cs typeface="Open Sans"/>
                <a:sym typeface="Open Sans"/>
              </a:rPr>
              <a:t> Matnli axborotni tekshirish</a:t>
            </a:r>
          </a:p>
          <a:p>
            <a:pPr algn="just">
              <a:lnSpc>
                <a:spcPts val="5199"/>
              </a:lnSpc>
            </a:pPr>
            <a:r>
              <a:rPr lang="en-US" sz="2599">
                <a:solidFill>
                  <a:srgbClr val="FFFFFF"/>
                </a:solidFill>
                <a:latin typeface="Open Sans"/>
                <a:ea typeface="Open Sans"/>
                <a:cs typeface="Open Sans"/>
                <a:sym typeface="Open Sans"/>
              </a:rPr>
              <a:t>Matn tarkibidagi raqamlar, statistikalar yoki iqtiboslarni tekshirishda quyidagi zanjirga amal qilinadi:</a:t>
            </a:r>
          </a:p>
          <a:p>
            <a:pPr algn="just">
              <a:lnSpc>
                <a:spcPts val="5199"/>
              </a:lnSpc>
            </a:pPr>
            <a:r>
              <a:rPr lang="en-US" sz="2599">
                <a:solidFill>
                  <a:srgbClr val="FFFFFF"/>
                </a:solidFill>
                <a:latin typeface="Open Sans"/>
                <a:ea typeface="Open Sans"/>
                <a:cs typeface="Open Sans"/>
                <a:sym typeface="Open Sans"/>
              </a:rPr>
              <a:t>Birlamchi manba (Primary source): Xabarda keltirilgan qonun, qaror yoki tadqiqotning asl nusxasini (masalan, Lex.uz yoki rasmiy statistika agentligi saytlaridan) topish.</a:t>
            </a:r>
          </a:p>
          <a:p>
            <a:pPr algn="just">
              <a:lnSpc>
                <a:spcPts val="5199"/>
              </a:lnSpc>
            </a:pPr>
            <a:r>
              <a:rPr lang="en-US" sz="2599">
                <a:solidFill>
                  <a:srgbClr val="FFFFFF"/>
                </a:solidFill>
                <a:latin typeface="Open Sans"/>
                <a:ea typeface="Open Sans"/>
                <a:cs typeface="Open Sans"/>
                <a:sym typeface="Open Sans"/>
              </a:rPr>
              <a:t>Kontekstual tahlil: Iqtibos keltirgan shaxsning so‘zlari to‘liq ma’noda olinganmi yoki uning gapidan faqat shov-shuvli qismi yulinib, ma’no o‘zgartirilganmi?</a:t>
            </a:r>
          </a:p>
          <a:p>
            <a:pPr marL="0" lvl="0" indent="0" algn="just">
              <a:lnSpc>
                <a:spcPts val="6599"/>
              </a:lnSpc>
            </a:pPr>
            <a:endParaRPr lang="en-US" sz="2599">
              <a:solidFill>
                <a:srgbClr val="FFFFFF"/>
              </a:solidFill>
              <a:latin typeface="Open Sans"/>
              <a:ea typeface="Open Sans"/>
              <a:cs typeface="Open Sans"/>
              <a:sym typeface="Open Sans"/>
            </a:endParaRPr>
          </a:p>
        </p:txBody>
      </p:sp>
      <p:sp>
        <p:nvSpPr>
          <p:cNvPr id="4" name="AutoShape 4"/>
          <p:cNvSpPr/>
          <p:nvPr/>
        </p:nvSpPr>
        <p:spPr>
          <a:xfrm>
            <a:off x="8488950" y="5027511"/>
            <a:ext cx="1310100" cy="0"/>
          </a:xfrm>
          <a:prstGeom prst="line">
            <a:avLst/>
          </a:prstGeom>
          <a:ln w="95250" cap="flat">
            <a:solidFill>
              <a:srgbClr val="FFFFFF"/>
            </a:solidFill>
            <a:prstDash val="solid"/>
            <a:headEnd type="none" w="sm" len="sm"/>
            <a:tailEnd type="none" w="sm" len="sm"/>
          </a:ln>
        </p:spPr>
      </p:sp>
      <p:grpSp>
        <p:nvGrpSpPr>
          <p:cNvPr id="5" name="Group 5"/>
          <p:cNvGrpSpPr/>
          <p:nvPr/>
        </p:nvGrpSpPr>
        <p:grpSpPr>
          <a:xfrm>
            <a:off x="15664971" y="-782737"/>
            <a:ext cx="3744615" cy="374461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FFFFFF">
                  <a:alpha val="19608"/>
                </a:srgbClr>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55020" y="7356528"/>
            <a:ext cx="2350854" cy="235085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FFFFFF">
                  <a:alpha val="19608"/>
                </a:srgbClr>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16140" y="629499"/>
            <a:ext cx="10545179" cy="9028003"/>
            <a:chOff x="0" y="0"/>
            <a:chExt cx="14060239" cy="12037337"/>
          </a:xfrm>
        </p:grpSpPr>
        <p:pic>
          <p:nvPicPr>
            <p:cNvPr id="3" name="Picture 3"/>
            <p:cNvPicPr>
              <a:picLocks noChangeAspect="1"/>
            </p:cNvPicPr>
            <p:nvPr/>
          </p:nvPicPr>
          <p:blipFill>
            <a:blip r:embed="rId2"/>
            <a:srcRect l="20305" r="2641"/>
            <a:stretch>
              <a:fillRect/>
            </a:stretch>
          </p:blipFill>
          <p:spPr>
            <a:xfrm>
              <a:off x="0" y="0"/>
              <a:ext cx="9331159" cy="7982558"/>
            </a:xfrm>
            <a:prstGeom prst="rect">
              <a:avLst/>
            </a:prstGeom>
          </p:spPr>
        </p:pic>
        <p:pic>
          <p:nvPicPr>
            <p:cNvPr id="4" name="Picture 4"/>
            <p:cNvPicPr>
              <a:picLocks noChangeAspect="1"/>
            </p:cNvPicPr>
            <p:nvPr/>
          </p:nvPicPr>
          <p:blipFill>
            <a:blip r:embed="rId3"/>
            <a:srcRect l="10944" r="10944"/>
            <a:stretch>
              <a:fillRect/>
            </a:stretch>
          </p:blipFill>
          <p:spPr>
            <a:xfrm>
              <a:off x="9458159" y="0"/>
              <a:ext cx="4602080" cy="3927779"/>
            </a:xfrm>
            <a:prstGeom prst="rect">
              <a:avLst/>
            </a:prstGeom>
          </p:spPr>
        </p:pic>
        <p:pic>
          <p:nvPicPr>
            <p:cNvPr id="5" name="Picture 5"/>
            <p:cNvPicPr>
              <a:picLocks noChangeAspect="1"/>
            </p:cNvPicPr>
            <p:nvPr/>
          </p:nvPicPr>
          <p:blipFill>
            <a:blip r:embed="rId4"/>
            <a:srcRect l="23951" r="37613"/>
            <a:stretch>
              <a:fillRect/>
            </a:stretch>
          </p:blipFill>
          <p:spPr>
            <a:xfrm>
              <a:off x="9458159" y="4054779"/>
              <a:ext cx="4602080" cy="7982558"/>
            </a:xfrm>
            <a:prstGeom prst="rect">
              <a:avLst/>
            </a:prstGeom>
          </p:spPr>
        </p:pic>
        <p:pic>
          <p:nvPicPr>
            <p:cNvPr id="6" name="Picture 6"/>
            <p:cNvPicPr>
              <a:picLocks noChangeAspect="1"/>
            </p:cNvPicPr>
            <p:nvPr/>
          </p:nvPicPr>
          <p:blipFill>
            <a:blip r:embed="rId5"/>
            <a:srcRect l="10968" r="10968"/>
            <a:stretch>
              <a:fillRect/>
            </a:stretch>
          </p:blipFill>
          <p:spPr>
            <a:xfrm>
              <a:off x="4729080" y="8109558"/>
              <a:ext cx="4602080" cy="3927779"/>
            </a:xfrm>
            <a:prstGeom prst="rect">
              <a:avLst/>
            </a:prstGeom>
          </p:spPr>
        </p:pic>
        <p:pic>
          <p:nvPicPr>
            <p:cNvPr id="7" name="Picture 7"/>
            <p:cNvPicPr>
              <a:picLocks noChangeAspect="1"/>
            </p:cNvPicPr>
            <p:nvPr/>
          </p:nvPicPr>
          <p:blipFill>
            <a:blip r:embed="rId6"/>
            <a:srcRect l="10968" r="10968"/>
            <a:stretch>
              <a:fillRect/>
            </a:stretch>
          </p:blipFill>
          <p:spPr>
            <a:xfrm>
              <a:off x="0" y="8109558"/>
              <a:ext cx="4602080" cy="3927779"/>
            </a:xfrm>
            <a:prstGeom prst="rect">
              <a:avLst/>
            </a:prstGeom>
          </p:spPr>
        </p:pic>
      </p:grpSp>
      <p:grpSp>
        <p:nvGrpSpPr>
          <p:cNvPr id="8" name="Group 8"/>
          <p:cNvGrpSpPr/>
          <p:nvPr/>
        </p:nvGrpSpPr>
        <p:grpSpPr>
          <a:xfrm>
            <a:off x="0" y="0"/>
            <a:ext cx="6251518" cy="10287000"/>
            <a:chOff x="0" y="0"/>
            <a:chExt cx="1646490" cy="2709333"/>
          </a:xfrm>
        </p:grpSpPr>
        <p:sp>
          <p:nvSpPr>
            <p:cNvPr id="9" name="Freeform 9"/>
            <p:cNvSpPr/>
            <p:nvPr/>
          </p:nvSpPr>
          <p:spPr>
            <a:xfrm>
              <a:off x="0" y="0"/>
              <a:ext cx="1646490" cy="2709333"/>
            </a:xfrm>
            <a:custGeom>
              <a:avLst/>
              <a:gdLst/>
              <a:ahLst/>
              <a:cxnLst/>
              <a:rect l="l" t="t" r="r" b="b"/>
              <a:pathLst>
                <a:path w="1646490" h="2709333">
                  <a:moveTo>
                    <a:pt x="0" y="0"/>
                  </a:moveTo>
                  <a:lnTo>
                    <a:pt x="1646490" y="0"/>
                  </a:lnTo>
                  <a:lnTo>
                    <a:pt x="1646490" y="2709333"/>
                  </a:lnTo>
                  <a:lnTo>
                    <a:pt x="0" y="2709333"/>
                  </a:lnTo>
                  <a:close/>
                </a:path>
              </a:pathLst>
            </a:custGeom>
            <a:solidFill>
              <a:srgbClr val="0345E4"/>
            </a:solidFill>
          </p:spPr>
        </p:sp>
        <p:sp>
          <p:nvSpPr>
            <p:cNvPr id="10" name="TextBox 10"/>
            <p:cNvSpPr txBox="1"/>
            <p:nvPr/>
          </p:nvSpPr>
          <p:spPr>
            <a:xfrm>
              <a:off x="0" y="-38100"/>
              <a:ext cx="1646490" cy="2747433"/>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916626" y="901645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2" name="TextBox 12"/>
          <p:cNvSpPr txBox="1"/>
          <p:nvPr/>
        </p:nvSpPr>
        <p:spPr>
          <a:xfrm>
            <a:off x="353068" y="255587"/>
            <a:ext cx="5334892" cy="9690100"/>
          </a:xfrm>
          <a:prstGeom prst="rect">
            <a:avLst/>
          </a:prstGeom>
        </p:spPr>
        <p:txBody>
          <a:bodyPr lIns="0" tIns="0" rIns="0" bIns="0" rtlCol="0" anchor="t">
            <a:spAutoFit/>
          </a:bodyPr>
          <a:lstStyle/>
          <a:p>
            <a:pPr algn="just">
              <a:lnSpc>
                <a:spcPts val="3874"/>
              </a:lnSpc>
            </a:pPr>
            <a:r>
              <a:rPr lang="en-US" sz="2499">
                <a:solidFill>
                  <a:srgbClr val="FFFFFF"/>
                </a:solidFill>
                <a:latin typeface="Open Sans"/>
                <a:ea typeface="Open Sans"/>
                <a:cs typeface="Open Sans"/>
                <a:sym typeface="Open Sans"/>
              </a:rPr>
              <a:t>B) Fotosuratlarni tekshirish (Vizual verifikatsiya)</a:t>
            </a:r>
          </a:p>
          <a:p>
            <a:pPr algn="just">
              <a:lnSpc>
                <a:spcPts val="3874"/>
              </a:lnSpc>
            </a:pPr>
            <a:r>
              <a:rPr lang="en-US" sz="2499">
                <a:solidFill>
                  <a:srgbClr val="FFFFFF"/>
                </a:solidFill>
                <a:latin typeface="Open Sans"/>
                <a:ea typeface="Open Sans"/>
                <a:cs typeface="Open Sans"/>
                <a:sym typeface="Open Sans"/>
              </a:rPr>
              <a:t>Rasmlar ko‘pincha manipulyatsiyaning eng oson quroli hisoblanadi. Foto-feyklar ikki xil bo‘ladi: fotomontaj (o‘zgartirilgan rasm) va noto‘g‘ri kontekst (eski yoki boshqa joydagi rasm).</a:t>
            </a:r>
          </a:p>
          <a:p>
            <a:pPr algn="just">
              <a:lnSpc>
                <a:spcPts val="3874"/>
              </a:lnSpc>
            </a:pPr>
            <a:r>
              <a:rPr lang="en-US" sz="2499">
                <a:solidFill>
                  <a:srgbClr val="FFFFFF"/>
                </a:solidFill>
                <a:latin typeface="Open Sans"/>
                <a:ea typeface="Open Sans"/>
                <a:cs typeface="Open Sans"/>
                <a:sym typeface="Open Sans"/>
              </a:rPr>
              <a:t>Teskari qidiruv (Reverse Image Search): Rasm qidiruv tizimlariga yuklanadi va uning internetda birinchi marta qachon va qaysi saytda paydo bo‘lgani aniqlanadi.</a:t>
            </a:r>
          </a:p>
          <a:p>
            <a:pPr marL="0" lvl="0" indent="0" algn="just">
              <a:lnSpc>
                <a:spcPts val="3874"/>
              </a:lnSpc>
            </a:pPr>
            <a:r>
              <a:rPr lang="en-US" sz="2499">
                <a:solidFill>
                  <a:srgbClr val="FFFFFF"/>
                </a:solidFill>
                <a:latin typeface="Open Sans"/>
                <a:ea typeface="Open Sans"/>
                <a:cs typeface="Open Sans"/>
                <a:sym typeface="Open Sans"/>
              </a:rPr>
              <a:t>Metadata (EXIF ma’lumotlar) tahlili: Har bir raqamli rasm tarkibida uning qaysi fotoaparat yoki smartfonda, qaysi geografik koordinatada va qaysi vaqtda olingani haqidagi yashirin ma’lumotlar (metadata) bo‘ladi.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798572" y="-3621334"/>
            <a:ext cx="6460278" cy="646027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6F6F6"/>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916626" y="1732921"/>
            <a:ext cx="985014" cy="175260"/>
          </a:xfrm>
          <a:prstGeom prst="line">
            <a:avLst/>
          </a:prstGeom>
          <a:ln w="95250" cap="flat">
            <a:solidFill>
              <a:srgbClr val="FFFFFF"/>
            </a:solidFill>
            <a:prstDash val="solid"/>
            <a:headEnd type="none" w="sm" len="sm"/>
            <a:tailEnd type="none" w="sm" len="sm"/>
          </a:ln>
        </p:spPr>
      </p:sp>
      <p:sp>
        <p:nvSpPr>
          <p:cNvPr id="6" name="Freeform 6"/>
          <p:cNvSpPr/>
          <p:nvPr/>
        </p:nvSpPr>
        <p:spPr>
          <a:xfrm>
            <a:off x="916626" y="901645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916626" y="2181793"/>
            <a:ext cx="16342674" cy="5639437"/>
          </a:xfrm>
          <a:prstGeom prst="rect">
            <a:avLst/>
          </a:prstGeom>
        </p:spPr>
        <p:txBody>
          <a:bodyPr lIns="0" tIns="0" rIns="0" bIns="0" rtlCol="0" anchor="t">
            <a:spAutoFit/>
          </a:bodyPr>
          <a:lstStyle/>
          <a:p>
            <a:pPr algn="ctr">
              <a:lnSpc>
                <a:spcPts val="5949"/>
              </a:lnSpc>
            </a:pPr>
            <a:r>
              <a:rPr lang="en-US" sz="3399">
                <a:solidFill>
                  <a:srgbClr val="000000"/>
                </a:solidFill>
                <a:latin typeface="Open Sans"/>
                <a:ea typeface="Open Sans"/>
                <a:cs typeface="Open Sans"/>
                <a:sym typeface="Open Sans"/>
              </a:rPr>
              <a:t>Videomateriallarni tekshirish</a:t>
            </a:r>
          </a:p>
          <a:p>
            <a:pPr algn="just">
              <a:lnSpc>
                <a:spcPts val="6649"/>
              </a:lnSpc>
            </a:pPr>
            <a:r>
              <a:rPr lang="en-US" sz="3799">
                <a:solidFill>
                  <a:srgbClr val="000000"/>
                </a:solidFill>
                <a:latin typeface="Open Sans"/>
                <a:ea typeface="Open Sans"/>
                <a:cs typeface="Open Sans"/>
                <a:sym typeface="Open Sans"/>
              </a:rPr>
              <a:t>Videoni to‘g‘ridan-to‘g‘ri qidiruvga berib bo‘lmaydi. Shuning uchun video bir nechta muhim kadrlar (keyframes)ga bo‘lib olinadi va ushbu kadrlar rasm sifatida qidiriladi. Videodagi ob-havo, binolar, avtomobil raqamlari, yo‘l belgilari va til xususiyatlari voqeaning real joyini (geolokatsiyasini) aniqlashga yordam beradi.</a:t>
            </a:r>
          </a:p>
          <a:p>
            <a:pPr marL="0" lvl="0" indent="0" algn="just">
              <a:lnSpc>
                <a:spcPts val="5949"/>
              </a:lnSpc>
            </a:pPr>
            <a:endParaRPr lang="en-US" sz="3799">
              <a:solidFill>
                <a:srgbClr val="000000"/>
              </a:solidFill>
              <a:latin typeface="Open Sans"/>
              <a:ea typeface="Open Sans"/>
              <a:cs typeface="Open Sans"/>
              <a:sym typeface="Open Sans"/>
            </a:endParaRPr>
          </a:p>
        </p:txBody>
      </p:sp>
      <p:grpSp>
        <p:nvGrpSpPr>
          <p:cNvPr id="8" name="Group 8"/>
          <p:cNvGrpSpPr/>
          <p:nvPr/>
        </p:nvGrpSpPr>
        <p:grpSpPr>
          <a:xfrm>
            <a:off x="16230656" y="-1369287"/>
            <a:ext cx="3277467" cy="327746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0345E4">
                  <a:alpha val="19608"/>
                </a:srgbClr>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87801" y="629499"/>
            <a:ext cx="10545179" cy="9028003"/>
            <a:chOff x="0" y="0"/>
            <a:chExt cx="14060239" cy="12037337"/>
          </a:xfrm>
        </p:grpSpPr>
        <p:pic>
          <p:nvPicPr>
            <p:cNvPr id="3" name="Picture 3"/>
            <p:cNvPicPr>
              <a:picLocks noChangeAspect="1"/>
            </p:cNvPicPr>
            <p:nvPr/>
          </p:nvPicPr>
          <p:blipFill>
            <a:blip r:embed="rId2"/>
            <a:srcRect l="20305" r="2641"/>
            <a:stretch>
              <a:fillRect/>
            </a:stretch>
          </p:blipFill>
          <p:spPr>
            <a:xfrm>
              <a:off x="0" y="0"/>
              <a:ext cx="9331159" cy="7982558"/>
            </a:xfrm>
            <a:prstGeom prst="rect">
              <a:avLst/>
            </a:prstGeom>
          </p:spPr>
        </p:pic>
        <p:pic>
          <p:nvPicPr>
            <p:cNvPr id="4" name="Picture 4"/>
            <p:cNvPicPr>
              <a:picLocks noChangeAspect="1"/>
            </p:cNvPicPr>
            <p:nvPr/>
          </p:nvPicPr>
          <p:blipFill>
            <a:blip r:embed="rId3"/>
            <a:srcRect l="10944" r="10944"/>
            <a:stretch>
              <a:fillRect/>
            </a:stretch>
          </p:blipFill>
          <p:spPr>
            <a:xfrm>
              <a:off x="9458159" y="0"/>
              <a:ext cx="4602080" cy="3927779"/>
            </a:xfrm>
            <a:prstGeom prst="rect">
              <a:avLst/>
            </a:prstGeom>
          </p:spPr>
        </p:pic>
        <p:pic>
          <p:nvPicPr>
            <p:cNvPr id="5" name="Picture 5"/>
            <p:cNvPicPr>
              <a:picLocks noChangeAspect="1"/>
            </p:cNvPicPr>
            <p:nvPr/>
          </p:nvPicPr>
          <p:blipFill>
            <a:blip r:embed="rId4"/>
            <a:srcRect l="23951" r="37613"/>
            <a:stretch>
              <a:fillRect/>
            </a:stretch>
          </p:blipFill>
          <p:spPr>
            <a:xfrm>
              <a:off x="9458159" y="4054779"/>
              <a:ext cx="4602080" cy="7982558"/>
            </a:xfrm>
            <a:prstGeom prst="rect">
              <a:avLst/>
            </a:prstGeom>
          </p:spPr>
        </p:pic>
        <p:pic>
          <p:nvPicPr>
            <p:cNvPr id="6" name="Picture 6"/>
            <p:cNvPicPr>
              <a:picLocks noChangeAspect="1"/>
            </p:cNvPicPr>
            <p:nvPr/>
          </p:nvPicPr>
          <p:blipFill>
            <a:blip r:embed="rId5"/>
            <a:srcRect l="10968" r="10968"/>
            <a:stretch>
              <a:fillRect/>
            </a:stretch>
          </p:blipFill>
          <p:spPr>
            <a:xfrm>
              <a:off x="4729080" y="8109558"/>
              <a:ext cx="4602080" cy="3927779"/>
            </a:xfrm>
            <a:prstGeom prst="rect">
              <a:avLst/>
            </a:prstGeom>
          </p:spPr>
        </p:pic>
        <p:pic>
          <p:nvPicPr>
            <p:cNvPr id="7" name="Picture 7"/>
            <p:cNvPicPr>
              <a:picLocks noChangeAspect="1"/>
            </p:cNvPicPr>
            <p:nvPr/>
          </p:nvPicPr>
          <p:blipFill>
            <a:blip r:embed="rId6"/>
            <a:srcRect l="10968" r="10968"/>
            <a:stretch>
              <a:fillRect/>
            </a:stretch>
          </p:blipFill>
          <p:spPr>
            <a:xfrm>
              <a:off x="0" y="8109558"/>
              <a:ext cx="4602080" cy="3927779"/>
            </a:xfrm>
            <a:prstGeom prst="rect">
              <a:avLst/>
            </a:prstGeom>
          </p:spPr>
        </p:pic>
      </p:grpSp>
      <p:grpSp>
        <p:nvGrpSpPr>
          <p:cNvPr id="8" name="Group 8"/>
          <p:cNvGrpSpPr/>
          <p:nvPr/>
        </p:nvGrpSpPr>
        <p:grpSpPr>
          <a:xfrm>
            <a:off x="0" y="0"/>
            <a:ext cx="6251518" cy="10287000"/>
            <a:chOff x="0" y="0"/>
            <a:chExt cx="1646490" cy="2709333"/>
          </a:xfrm>
        </p:grpSpPr>
        <p:sp>
          <p:nvSpPr>
            <p:cNvPr id="9" name="Freeform 9"/>
            <p:cNvSpPr/>
            <p:nvPr/>
          </p:nvSpPr>
          <p:spPr>
            <a:xfrm>
              <a:off x="0" y="0"/>
              <a:ext cx="1646490" cy="2709333"/>
            </a:xfrm>
            <a:custGeom>
              <a:avLst/>
              <a:gdLst/>
              <a:ahLst/>
              <a:cxnLst/>
              <a:rect l="l" t="t" r="r" b="b"/>
              <a:pathLst>
                <a:path w="1646490" h="2709333">
                  <a:moveTo>
                    <a:pt x="0" y="0"/>
                  </a:moveTo>
                  <a:lnTo>
                    <a:pt x="1646490" y="0"/>
                  </a:lnTo>
                  <a:lnTo>
                    <a:pt x="1646490" y="2709333"/>
                  </a:lnTo>
                  <a:lnTo>
                    <a:pt x="0" y="2709333"/>
                  </a:lnTo>
                  <a:close/>
                </a:path>
              </a:pathLst>
            </a:custGeom>
            <a:solidFill>
              <a:srgbClr val="0345E4"/>
            </a:solidFill>
          </p:spPr>
        </p:sp>
        <p:sp>
          <p:nvSpPr>
            <p:cNvPr id="10" name="TextBox 10"/>
            <p:cNvSpPr txBox="1"/>
            <p:nvPr/>
          </p:nvSpPr>
          <p:spPr>
            <a:xfrm>
              <a:off x="0" y="-38100"/>
              <a:ext cx="1646490" cy="2747433"/>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916626" y="901645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2" name="TextBox 12"/>
          <p:cNvSpPr txBox="1"/>
          <p:nvPr/>
        </p:nvSpPr>
        <p:spPr>
          <a:xfrm>
            <a:off x="179588" y="255587"/>
            <a:ext cx="5865760" cy="8718550"/>
          </a:xfrm>
          <a:prstGeom prst="rect">
            <a:avLst/>
          </a:prstGeom>
        </p:spPr>
        <p:txBody>
          <a:bodyPr lIns="0" tIns="0" rIns="0" bIns="0" rtlCol="0" anchor="t">
            <a:spAutoFit/>
          </a:bodyPr>
          <a:lstStyle/>
          <a:p>
            <a:pPr algn="just">
              <a:lnSpc>
                <a:spcPts val="3874"/>
              </a:lnSpc>
            </a:pPr>
            <a:r>
              <a:rPr lang="en-US" sz="2499">
                <a:solidFill>
                  <a:srgbClr val="FFFFFF"/>
                </a:solidFill>
                <a:latin typeface="Open Sans"/>
                <a:ea typeface="Open Sans"/>
                <a:cs typeface="Open Sans"/>
                <a:sym typeface="Open Sans"/>
              </a:rPr>
              <a:t>Pedagogik nuqtayi nazardan, fakt-cheking shunchaki jurnalistik termin emas, u zamonaviy insonning tanqidiy fikrlash kompetensiyasi tarkibiy qismidir.</a:t>
            </a:r>
          </a:p>
          <a:p>
            <a:pPr algn="just">
              <a:lnSpc>
                <a:spcPts val="3874"/>
              </a:lnSpc>
            </a:pPr>
            <a:r>
              <a:rPr lang="en-US" sz="2499">
                <a:solidFill>
                  <a:srgbClr val="FFFFFF"/>
                </a:solidFill>
                <a:latin typeface="Open Sans"/>
                <a:ea typeface="Open Sans"/>
                <a:cs typeface="Open Sans"/>
                <a:sym typeface="Open Sans"/>
              </a:rPr>
              <a:t>Fakt-cheking va Jurnalistik verifikatsiyaning farqi:</a:t>
            </a:r>
          </a:p>
          <a:p>
            <a:pPr algn="just">
              <a:lnSpc>
                <a:spcPts val="3874"/>
              </a:lnSpc>
            </a:pPr>
            <a:r>
              <a:rPr lang="en-US" sz="2499">
                <a:solidFill>
                  <a:srgbClr val="FFFFFF"/>
                </a:solidFill>
                <a:latin typeface="Open Sans"/>
                <a:ea typeface="Open Sans"/>
                <a:cs typeface="Open Sans"/>
                <a:sym typeface="Open Sans"/>
              </a:rPr>
              <a:t>Klassik verifikatsiya: Axborot material (maqola, lavha) chop etilgunga qadar tahririyat ichida tekshiriladi.</a:t>
            </a:r>
          </a:p>
          <a:p>
            <a:pPr algn="just">
              <a:lnSpc>
                <a:spcPts val="3874"/>
              </a:lnSpc>
            </a:pPr>
            <a:r>
              <a:rPr lang="en-US" sz="2499">
                <a:solidFill>
                  <a:srgbClr val="FFFFFF"/>
                </a:solidFill>
                <a:latin typeface="Open Sans"/>
                <a:ea typeface="Open Sans"/>
                <a:cs typeface="Open Sans"/>
                <a:sym typeface="Open Sans"/>
              </a:rPr>
              <a:t>Fakt-cheking: Axborot allaqachon ommaga e’lon qilinganidan keyin, uning jamiyatga ta’sirini neytrallash yoki haqiqatni yuzaga chiqarish uchun ochiq manbalar yordamida tekshiriladi va natijasi tahliliy material sifatida e’lon qilinadi.</a:t>
            </a:r>
          </a:p>
          <a:p>
            <a:pPr marL="0" lvl="0" indent="0" algn="just">
              <a:lnSpc>
                <a:spcPts val="3874"/>
              </a:lnSpc>
            </a:pPr>
            <a:endParaRPr lang="en-US" sz="2499">
              <a:solidFill>
                <a:srgbClr val="FFFFFF"/>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76992" y="2596688"/>
            <a:ext cx="5881542" cy="3026622"/>
            <a:chOff x="0" y="0"/>
            <a:chExt cx="812800" cy="418264"/>
          </a:xfrm>
        </p:grpSpPr>
        <p:sp>
          <p:nvSpPr>
            <p:cNvPr id="3" name="Freeform 3"/>
            <p:cNvSpPr/>
            <p:nvPr/>
          </p:nvSpPr>
          <p:spPr>
            <a:xfrm>
              <a:off x="0" y="0"/>
              <a:ext cx="812800" cy="418264"/>
            </a:xfrm>
            <a:custGeom>
              <a:avLst/>
              <a:gdLst/>
              <a:ahLst/>
              <a:cxnLst/>
              <a:rect l="l" t="t" r="r" b="b"/>
              <a:pathLst>
                <a:path w="812800" h="418264">
                  <a:moveTo>
                    <a:pt x="0" y="0"/>
                  </a:moveTo>
                  <a:lnTo>
                    <a:pt x="812800" y="0"/>
                  </a:lnTo>
                  <a:lnTo>
                    <a:pt x="812800" y="418264"/>
                  </a:lnTo>
                  <a:lnTo>
                    <a:pt x="0" y="418264"/>
                  </a:lnTo>
                  <a:close/>
                </a:path>
              </a:pathLst>
            </a:custGeom>
            <a:solidFill>
              <a:srgbClr val="0345E4"/>
            </a:solidFill>
          </p:spPr>
        </p:sp>
        <p:sp>
          <p:nvSpPr>
            <p:cNvPr id="4" name="TextBox 4"/>
            <p:cNvSpPr txBox="1"/>
            <p:nvPr/>
          </p:nvSpPr>
          <p:spPr>
            <a:xfrm>
              <a:off x="0" y="-38100"/>
              <a:ext cx="812800" cy="456364"/>
            </a:xfrm>
            <a:prstGeom prst="rect">
              <a:avLst/>
            </a:prstGeom>
          </p:spPr>
          <p:txBody>
            <a:bodyPr lIns="50800" tIns="50800" rIns="50800" bIns="50800" rtlCol="0" anchor="ctr"/>
            <a:lstStyle/>
            <a:p>
              <a:pPr algn="ctr">
                <a:lnSpc>
                  <a:spcPts val="2901"/>
                </a:lnSpc>
              </a:pPr>
              <a:endParaRPr/>
            </a:p>
          </p:txBody>
        </p:sp>
      </p:grpSp>
      <p:grpSp>
        <p:nvGrpSpPr>
          <p:cNvPr id="5" name="Group 5"/>
          <p:cNvGrpSpPr/>
          <p:nvPr/>
        </p:nvGrpSpPr>
        <p:grpSpPr>
          <a:xfrm>
            <a:off x="2556899" y="6514810"/>
            <a:ext cx="5881542" cy="3026622"/>
            <a:chOff x="0" y="0"/>
            <a:chExt cx="812800" cy="418264"/>
          </a:xfrm>
        </p:grpSpPr>
        <p:sp>
          <p:nvSpPr>
            <p:cNvPr id="6" name="Freeform 6"/>
            <p:cNvSpPr/>
            <p:nvPr/>
          </p:nvSpPr>
          <p:spPr>
            <a:xfrm>
              <a:off x="0" y="0"/>
              <a:ext cx="812800" cy="418264"/>
            </a:xfrm>
            <a:custGeom>
              <a:avLst/>
              <a:gdLst/>
              <a:ahLst/>
              <a:cxnLst/>
              <a:rect l="l" t="t" r="r" b="b"/>
              <a:pathLst>
                <a:path w="812800" h="418264">
                  <a:moveTo>
                    <a:pt x="0" y="0"/>
                  </a:moveTo>
                  <a:lnTo>
                    <a:pt x="812800" y="0"/>
                  </a:lnTo>
                  <a:lnTo>
                    <a:pt x="812800" y="418264"/>
                  </a:lnTo>
                  <a:lnTo>
                    <a:pt x="0" y="418264"/>
                  </a:lnTo>
                  <a:close/>
                </a:path>
              </a:pathLst>
            </a:custGeom>
            <a:solidFill>
              <a:srgbClr val="0345E4"/>
            </a:solidFill>
          </p:spPr>
        </p:sp>
        <p:sp>
          <p:nvSpPr>
            <p:cNvPr id="7" name="TextBox 7"/>
            <p:cNvSpPr txBox="1"/>
            <p:nvPr/>
          </p:nvSpPr>
          <p:spPr>
            <a:xfrm>
              <a:off x="0" y="-38100"/>
              <a:ext cx="812800" cy="456364"/>
            </a:xfrm>
            <a:prstGeom prst="rect">
              <a:avLst/>
            </a:prstGeom>
          </p:spPr>
          <p:txBody>
            <a:bodyPr lIns="50800" tIns="50800" rIns="50800" bIns="50800" rtlCol="0" anchor="ctr"/>
            <a:lstStyle/>
            <a:p>
              <a:pPr algn="ctr">
                <a:lnSpc>
                  <a:spcPts val="2901"/>
                </a:lnSpc>
              </a:pPr>
              <a:endParaRPr/>
            </a:p>
          </p:txBody>
        </p:sp>
      </p:grpSp>
      <p:grpSp>
        <p:nvGrpSpPr>
          <p:cNvPr id="8" name="Group 8"/>
          <p:cNvGrpSpPr/>
          <p:nvPr/>
        </p:nvGrpSpPr>
        <p:grpSpPr>
          <a:xfrm>
            <a:off x="4454167" y="4744326"/>
            <a:ext cx="1891701" cy="360605"/>
            <a:chOff x="0" y="0"/>
            <a:chExt cx="2522268" cy="480807"/>
          </a:xfrm>
        </p:grpSpPr>
        <p:grpSp>
          <p:nvGrpSpPr>
            <p:cNvPr id="9" name="Group 9"/>
            <p:cNvGrpSpPr/>
            <p:nvPr/>
          </p:nvGrpSpPr>
          <p:grpSpPr>
            <a:xfrm>
              <a:off x="2017814" y="0"/>
              <a:ext cx="504454" cy="480807"/>
              <a:chOff x="0" y="0"/>
              <a:chExt cx="812800" cy="774700"/>
            </a:xfrm>
          </p:grpSpPr>
          <p:sp>
            <p:nvSpPr>
              <p:cNvPr id="10" name="Freeform 10"/>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11" name="TextBox 11"/>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12" name="Group 12"/>
            <p:cNvGrpSpPr/>
            <p:nvPr/>
          </p:nvGrpSpPr>
          <p:grpSpPr>
            <a:xfrm>
              <a:off x="1513361" y="0"/>
              <a:ext cx="504454" cy="480807"/>
              <a:chOff x="0" y="0"/>
              <a:chExt cx="812800" cy="774700"/>
            </a:xfrm>
          </p:grpSpPr>
          <p:sp>
            <p:nvSpPr>
              <p:cNvPr id="13" name="Freeform 13"/>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14" name="TextBox 14"/>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15" name="Group 15"/>
            <p:cNvGrpSpPr/>
            <p:nvPr/>
          </p:nvGrpSpPr>
          <p:grpSpPr>
            <a:xfrm>
              <a:off x="1008907" y="0"/>
              <a:ext cx="504454" cy="480807"/>
              <a:chOff x="0" y="0"/>
              <a:chExt cx="812800" cy="774700"/>
            </a:xfrm>
          </p:grpSpPr>
          <p:sp>
            <p:nvSpPr>
              <p:cNvPr id="16" name="Freeform 1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17" name="TextBox 17"/>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18" name="Group 18"/>
            <p:cNvGrpSpPr/>
            <p:nvPr/>
          </p:nvGrpSpPr>
          <p:grpSpPr>
            <a:xfrm>
              <a:off x="504454" y="0"/>
              <a:ext cx="504454" cy="480807"/>
              <a:chOff x="0" y="0"/>
              <a:chExt cx="812800" cy="774700"/>
            </a:xfrm>
          </p:grpSpPr>
          <p:sp>
            <p:nvSpPr>
              <p:cNvPr id="19" name="Freeform 19"/>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20" name="TextBox 20"/>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21" name="Group 21"/>
            <p:cNvGrpSpPr/>
            <p:nvPr/>
          </p:nvGrpSpPr>
          <p:grpSpPr>
            <a:xfrm>
              <a:off x="0" y="0"/>
              <a:ext cx="504454" cy="480807"/>
              <a:chOff x="0" y="0"/>
              <a:chExt cx="812800" cy="774700"/>
            </a:xfrm>
          </p:grpSpPr>
          <p:sp>
            <p:nvSpPr>
              <p:cNvPr id="22" name="Freeform 22"/>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23" name="TextBox 23"/>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grpSp>
        <p:nvGrpSpPr>
          <p:cNvPr id="24" name="Group 24"/>
          <p:cNvGrpSpPr/>
          <p:nvPr/>
        </p:nvGrpSpPr>
        <p:grpSpPr>
          <a:xfrm>
            <a:off x="11002459" y="4744326"/>
            <a:ext cx="1891701" cy="360605"/>
            <a:chOff x="0" y="0"/>
            <a:chExt cx="2522268" cy="480807"/>
          </a:xfrm>
        </p:grpSpPr>
        <p:grpSp>
          <p:nvGrpSpPr>
            <p:cNvPr id="25" name="Group 25"/>
            <p:cNvGrpSpPr/>
            <p:nvPr/>
          </p:nvGrpSpPr>
          <p:grpSpPr>
            <a:xfrm>
              <a:off x="2017814" y="0"/>
              <a:ext cx="504454" cy="480807"/>
              <a:chOff x="0" y="0"/>
              <a:chExt cx="812800" cy="774700"/>
            </a:xfrm>
          </p:grpSpPr>
          <p:sp>
            <p:nvSpPr>
              <p:cNvPr id="26" name="Freeform 26"/>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27" name="TextBox 27"/>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28" name="Group 28"/>
            <p:cNvGrpSpPr/>
            <p:nvPr/>
          </p:nvGrpSpPr>
          <p:grpSpPr>
            <a:xfrm>
              <a:off x="1513361" y="0"/>
              <a:ext cx="504454" cy="480807"/>
              <a:chOff x="0" y="0"/>
              <a:chExt cx="812800" cy="774700"/>
            </a:xfrm>
          </p:grpSpPr>
          <p:sp>
            <p:nvSpPr>
              <p:cNvPr id="29" name="Freeform 29"/>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30" name="TextBox 30"/>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31" name="Group 31"/>
            <p:cNvGrpSpPr/>
            <p:nvPr/>
          </p:nvGrpSpPr>
          <p:grpSpPr>
            <a:xfrm>
              <a:off x="1008907" y="0"/>
              <a:ext cx="504454" cy="480807"/>
              <a:chOff x="0" y="0"/>
              <a:chExt cx="812800" cy="774700"/>
            </a:xfrm>
          </p:grpSpPr>
          <p:sp>
            <p:nvSpPr>
              <p:cNvPr id="32" name="Freeform 32"/>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33" name="TextBox 33"/>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34" name="Group 34"/>
            <p:cNvGrpSpPr/>
            <p:nvPr/>
          </p:nvGrpSpPr>
          <p:grpSpPr>
            <a:xfrm>
              <a:off x="504454" y="0"/>
              <a:ext cx="504454" cy="480807"/>
              <a:chOff x="0" y="0"/>
              <a:chExt cx="812800" cy="774700"/>
            </a:xfrm>
          </p:grpSpPr>
          <p:sp>
            <p:nvSpPr>
              <p:cNvPr id="35" name="Freeform 35"/>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36" name="TextBox 36"/>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37" name="Group 37"/>
            <p:cNvGrpSpPr/>
            <p:nvPr/>
          </p:nvGrpSpPr>
          <p:grpSpPr>
            <a:xfrm>
              <a:off x="0" y="0"/>
              <a:ext cx="504454" cy="480807"/>
              <a:chOff x="0" y="0"/>
              <a:chExt cx="812800" cy="774700"/>
            </a:xfrm>
          </p:grpSpPr>
          <p:sp>
            <p:nvSpPr>
              <p:cNvPr id="38" name="Freeform 38"/>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39" name="TextBox 39"/>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grpSp>
        <p:nvGrpSpPr>
          <p:cNvPr id="40" name="Group 40"/>
          <p:cNvGrpSpPr/>
          <p:nvPr/>
        </p:nvGrpSpPr>
        <p:grpSpPr>
          <a:xfrm>
            <a:off x="5982366" y="8662448"/>
            <a:ext cx="1891701" cy="360605"/>
            <a:chOff x="0" y="0"/>
            <a:chExt cx="2522268" cy="480807"/>
          </a:xfrm>
        </p:grpSpPr>
        <p:grpSp>
          <p:nvGrpSpPr>
            <p:cNvPr id="41" name="Group 41"/>
            <p:cNvGrpSpPr/>
            <p:nvPr/>
          </p:nvGrpSpPr>
          <p:grpSpPr>
            <a:xfrm>
              <a:off x="2017814" y="0"/>
              <a:ext cx="504454" cy="480807"/>
              <a:chOff x="0" y="0"/>
              <a:chExt cx="812800" cy="774700"/>
            </a:xfrm>
          </p:grpSpPr>
          <p:sp>
            <p:nvSpPr>
              <p:cNvPr id="42" name="Freeform 42"/>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43" name="TextBox 43"/>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44" name="Group 44"/>
            <p:cNvGrpSpPr/>
            <p:nvPr/>
          </p:nvGrpSpPr>
          <p:grpSpPr>
            <a:xfrm>
              <a:off x="1513361" y="0"/>
              <a:ext cx="504454" cy="480807"/>
              <a:chOff x="0" y="0"/>
              <a:chExt cx="812800" cy="774700"/>
            </a:xfrm>
          </p:grpSpPr>
          <p:sp>
            <p:nvSpPr>
              <p:cNvPr id="45" name="Freeform 45"/>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46" name="TextBox 46"/>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47" name="Group 47"/>
            <p:cNvGrpSpPr/>
            <p:nvPr/>
          </p:nvGrpSpPr>
          <p:grpSpPr>
            <a:xfrm>
              <a:off x="1008907" y="0"/>
              <a:ext cx="504454" cy="480807"/>
              <a:chOff x="0" y="0"/>
              <a:chExt cx="812800" cy="774700"/>
            </a:xfrm>
          </p:grpSpPr>
          <p:sp>
            <p:nvSpPr>
              <p:cNvPr id="48" name="Freeform 48"/>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49" name="TextBox 49"/>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50" name="Group 50"/>
            <p:cNvGrpSpPr/>
            <p:nvPr/>
          </p:nvGrpSpPr>
          <p:grpSpPr>
            <a:xfrm>
              <a:off x="504454" y="0"/>
              <a:ext cx="504454" cy="480807"/>
              <a:chOff x="0" y="0"/>
              <a:chExt cx="812800" cy="774700"/>
            </a:xfrm>
          </p:grpSpPr>
          <p:sp>
            <p:nvSpPr>
              <p:cNvPr id="51" name="Freeform 51"/>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52" name="TextBox 52"/>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53" name="Group 53"/>
            <p:cNvGrpSpPr/>
            <p:nvPr/>
          </p:nvGrpSpPr>
          <p:grpSpPr>
            <a:xfrm>
              <a:off x="0" y="0"/>
              <a:ext cx="504454" cy="480807"/>
              <a:chOff x="0" y="0"/>
              <a:chExt cx="812800" cy="774700"/>
            </a:xfrm>
          </p:grpSpPr>
          <p:sp>
            <p:nvSpPr>
              <p:cNvPr id="54" name="Freeform 54"/>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55" name="TextBox 55"/>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grpSp>
        <p:nvGrpSpPr>
          <p:cNvPr id="56" name="Group 56"/>
          <p:cNvGrpSpPr/>
          <p:nvPr/>
        </p:nvGrpSpPr>
        <p:grpSpPr>
          <a:xfrm>
            <a:off x="10764856" y="8704919"/>
            <a:ext cx="1891701" cy="360605"/>
            <a:chOff x="0" y="0"/>
            <a:chExt cx="2522268" cy="480807"/>
          </a:xfrm>
        </p:grpSpPr>
        <p:grpSp>
          <p:nvGrpSpPr>
            <p:cNvPr id="57" name="Group 57"/>
            <p:cNvGrpSpPr/>
            <p:nvPr/>
          </p:nvGrpSpPr>
          <p:grpSpPr>
            <a:xfrm>
              <a:off x="2017814" y="0"/>
              <a:ext cx="504454" cy="480807"/>
              <a:chOff x="0" y="0"/>
              <a:chExt cx="812800" cy="774700"/>
            </a:xfrm>
          </p:grpSpPr>
          <p:sp>
            <p:nvSpPr>
              <p:cNvPr id="58" name="Freeform 58"/>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59" name="TextBox 59"/>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60" name="Group 60"/>
            <p:cNvGrpSpPr/>
            <p:nvPr/>
          </p:nvGrpSpPr>
          <p:grpSpPr>
            <a:xfrm>
              <a:off x="1513361" y="0"/>
              <a:ext cx="504454" cy="480807"/>
              <a:chOff x="0" y="0"/>
              <a:chExt cx="812800" cy="774700"/>
            </a:xfrm>
          </p:grpSpPr>
          <p:sp>
            <p:nvSpPr>
              <p:cNvPr id="61" name="Freeform 61"/>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62" name="TextBox 62"/>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63" name="Group 63"/>
            <p:cNvGrpSpPr/>
            <p:nvPr/>
          </p:nvGrpSpPr>
          <p:grpSpPr>
            <a:xfrm>
              <a:off x="1008907" y="0"/>
              <a:ext cx="504454" cy="480807"/>
              <a:chOff x="0" y="0"/>
              <a:chExt cx="812800" cy="774700"/>
            </a:xfrm>
          </p:grpSpPr>
          <p:sp>
            <p:nvSpPr>
              <p:cNvPr id="64" name="Freeform 64"/>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65" name="TextBox 65"/>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66" name="Group 66"/>
            <p:cNvGrpSpPr/>
            <p:nvPr/>
          </p:nvGrpSpPr>
          <p:grpSpPr>
            <a:xfrm>
              <a:off x="504454" y="0"/>
              <a:ext cx="504454" cy="480807"/>
              <a:chOff x="0" y="0"/>
              <a:chExt cx="812800" cy="774700"/>
            </a:xfrm>
          </p:grpSpPr>
          <p:sp>
            <p:nvSpPr>
              <p:cNvPr id="67" name="Freeform 67"/>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68" name="TextBox 68"/>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nvGrpSpPr>
            <p:cNvPr id="69" name="Group 69"/>
            <p:cNvGrpSpPr/>
            <p:nvPr/>
          </p:nvGrpSpPr>
          <p:grpSpPr>
            <a:xfrm>
              <a:off x="0" y="0"/>
              <a:ext cx="504454" cy="480807"/>
              <a:chOff x="0" y="0"/>
              <a:chExt cx="812800" cy="774700"/>
            </a:xfrm>
          </p:grpSpPr>
          <p:sp>
            <p:nvSpPr>
              <p:cNvPr id="70" name="Freeform 70"/>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C700"/>
              </a:solidFill>
            </p:spPr>
          </p:sp>
          <p:sp>
            <p:nvSpPr>
              <p:cNvPr id="71" name="TextBox 71"/>
              <p:cNvSpPr txBox="1"/>
              <p:nvPr/>
            </p:nvSpPr>
            <p:spPr>
              <a:xfrm>
                <a:off x="228600" y="228600"/>
                <a:ext cx="355600" cy="381000"/>
              </a:xfrm>
              <a:prstGeom prst="rect">
                <a:avLst/>
              </a:prstGeom>
            </p:spPr>
            <p:txBody>
              <a:bodyPr lIns="43186" tIns="43186" rIns="43186" bIns="43186" rtlCol="0" anchor="ctr"/>
              <a:lstStyle/>
              <a:p>
                <a:pPr algn="ctr">
                  <a:lnSpc>
                    <a:spcPts val="2901"/>
                  </a:lnSpc>
                </a:pPr>
                <a:endParaRPr/>
              </a:p>
            </p:txBody>
          </p:sp>
        </p:grpSp>
      </p:grpSp>
      <p:sp>
        <p:nvSpPr>
          <p:cNvPr id="72" name="TextBox 72"/>
          <p:cNvSpPr txBox="1"/>
          <p:nvPr/>
        </p:nvSpPr>
        <p:spPr>
          <a:xfrm>
            <a:off x="1593073" y="4748697"/>
            <a:ext cx="2376398" cy="356234"/>
          </a:xfrm>
          <a:prstGeom prst="rect">
            <a:avLst/>
          </a:prstGeom>
        </p:spPr>
        <p:txBody>
          <a:bodyPr lIns="0" tIns="0" rIns="0" bIns="0" rtlCol="0" anchor="t">
            <a:spAutoFit/>
          </a:bodyPr>
          <a:lstStyle/>
          <a:p>
            <a:pPr marL="0" lvl="0" indent="0" algn="l">
              <a:lnSpc>
                <a:spcPts val="2940"/>
              </a:lnSpc>
              <a:spcBef>
                <a:spcPct val="0"/>
              </a:spcBef>
            </a:pPr>
            <a:r>
              <a:rPr lang="en-US" sz="2100" b="1">
                <a:solidFill>
                  <a:srgbClr val="FFFFFF"/>
                </a:solidFill>
                <a:latin typeface="Montserrat Semi-Bold"/>
                <a:ea typeface="Montserrat Semi-Bold"/>
                <a:cs typeface="Montserrat Semi-Bold"/>
                <a:sym typeface="Montserrat Semi-Bold"/>
              </a:rPr>
              <a:t>Benjamin Shah</a:t>
            </a:r>
          </a:p>
        </p:txBody>
      </p:sp>
      <p:sp>
        <p:nvSpPr>
          <p:cNvPr id="73" name="TextBox 73"/>
          <p:cNvSpPr txBox="1"/>
          <p:nvPr/>
        </p:nvSpPr>
        <p:spPr>
          <a:xfrm>
            <a:off x="9669563" y="8666819"/>
            <a:ext cx="2190586" cy="356234"/>
          </a:xfrm>
          <a:prstGeom prst="rect">
            <a:avLst/>
          </a:prstGeom>
        </p:spPr>
        <p:txBody>
          <a:bodyPr lIns="0" tIns="0" rIns="0" bIns="0" rtlCol="0" anchor="t">
            <a:spAutoFit/>
          </a:bodyPr>
          <a:lstStyle/>
          <a:p>
            <a:pPr marL="0" lvl="0" indent="0" algn="l">
              <a:lnSpc>
                <a:spcPts val="2940"/>
              </a:lnSpc>
              <a:spcBef>
                <a:spcPct val="0"/>
              </a:spcBef>
            </a:pPr>
            <a:r>
              <a:rPr lang="en-US" sz="2100" b="1">
                <a:solidFill>
                  <a:srgbClr val="FFFFFF"/>
                </a:solidFill>
                <a:latin typeface="Montserrat Semi-Bold"/>
                <a:ea typeface="Montserrat Semi-Bold"/>
                <a:cs typeface="Montserrat Semi-Bold"/>
                <a:sym typeface="Montserrat Semi-Bold"/>
              </a:rPr>
              <a:t>Rufus Stewart</a:t>
            </a:r>
          </a:p>
        </p:txBody>
      </p:sp>
      <p:sp>
        <p:nvSpPr>
          <p:cNvPr id="74" name="TextBox 74"/>
          <p:cNvSpPr txBox="1"/>
          <p:nvPr/>
        </p:nvSpPr>
        <p:spPr>
          <a:xfrm>
            <a:off x="1593073" y="3284880"/>
            <a:ext cx="4752795" cy="1054100"/>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Open Sans Medium"/>
                <a:ea typeface="Open Sans Medium"/>
                <a:cs typeface="Open Sans Medium"/>
                <a:sym typeface="Open Sans Medium"/>
              </a:rPr>
              <a:t>In a world flooded with marketing noise, Thynk Unlimited stands out as a beacon of creativity and effectiveness.</a:t>
            </a:r>
          </a:p>
        </p:txBody>
      </p:sp>
      <p:sp>
        <p:nvSpPr>
          <p:cNvPr id="75" name="TextBox 75"/>
          <p:cNvSpPr txBox="1"/>
          <p:nvPr/>
        </p:nvSpPr>
        <p:spPr>
          <a:xfrm>
            <a:off x="7793310" y="2730843"/>
            <a:ext cx="5665223" cy="3168650"/>
          </a:xfrm>
          <a:prstGeom prst="rect">
            <a:avLst/>
          </a:prstGeom>
        </p:spPr>
        <p:txBody>
          <a:bodyPr lIns="0" tIns="0" rIns="0" bIns="0" rtlCol="0" anchor="t">
            <a:spAutoFit/>
          </a:bodyPr>
          <a:lstStyle/>
          <a:p>
            <a:pPr algn="l">
              <a:lnSpc>
                <a:spcPts val="2800"/>
              </a:lnSpc>
            </a:pPr>
            <a:r>
              <a:rPr lang="en-US" sz="2000" b="1">
                <a:solidFill>
                  <a:srgbClr val="FFFFFF"/>
                </a:solidFill>
                <a:latin typeface="Open Sans Medium"/>
                <a:ea typeface="Open Sans Medium"/>
                <a:cs typeface="Open Sans Medium"/>
                <a:sym typeface="Open Sans Medium"/>
              </a:rPr>
              <a:t>1. Internet va ijtimoiy tarmoqlarning kuchayishi bilan noto'g'ri ma'lumotlar, soxta xabarlar va tasdiqlanmagan da'volarning tarqalishi ancha oson va tezlashdi. Factchek odamlarga haqiqatni yetkazish orqali bunday noto'g'ri ma'lumotlarni aniqlash va yo'q qilishga yordam beradi.</a:t>
            </a:r>
          </a:p>
          <a:p>
            <a:pPr algn="l">
              <a:lnSpc>
                <a:spcPts val="2800"/>
              </a:lnSpc>
            </a:pPr>
            <a:endParaRPr lang="en-US" sz="2000" b="1">
              <a:solidFill>
                <a:srgbClr val="FFFFFF"/>
              </a:solidFill>
              <a:latin typeface="Open Sans Medium"/>
              <a:ea typeface="Open Sans Medium"/>
              <a:cs typeface="Open Sans Medium"/>
              <a:sym typeface="Open Sans Medium"/>
            </a:endParaRPr>
          </a:p>
          <a:p>
            <a:pPr marL="0" lvl="0" indent="0" algn="l">
              <a:lnSpc>
                <a:spcPts val="2800"/>
              </a:lnSpc>
              <a:spcBef>
                <a:spcPct val="0"/>
              </a:spcBef>
            </a:pPr>
            <a:endParaRPr lang="en-US" sz="2000" b="1">
              <a:solidFill>
                <a:srgbClr val="FFFFFF"/>
              </a:solidFill>
              <a:latin typeface="Open Sans Medium"/>
              <a:ea typeface="Open Sans Medium"/>
              <a:cs typeface="Open Sans Medium"/>
              <a:sym typeface="Open Sans Medium"/>
            </a:endParaRPr>
          </a:p>
        </p:txBody>
      </p:sp>
      <p:sp>
        <p:nvSpPr>
          <p:cNvPr id="76" name="TextBox 76"/>
          <p:cNvSpPr txBox="1"/>
          <p:nvPr/>
        </p:nvSpPr>
        <p:spPr>
          <a:xfrm>
            <a:off x="2781272" y="6654258"/>
            <a:ext cx="4068146" cy="2455428"/>
          </a:xfrm>
          <a:prstGeom prst="rect">
            <a:avLst/>
          </a:prstGeom>
        </p:spPr>
        <p:txBody>
          <a:bodyPr lIns="0" tIns="0" rIns="0" bIns="0" rtlCol="0" anchor="t">
            <a:spAutoFit/>
          </a:bodyPr>
          <a:lstStyle/>
          <a:p>
            <a:pPr marL="0" lvl="0" indent="0" algn="l">
              <a:lnSpc>
                <a:spcPts val="2433"/>
              </a:lnSpc>
              <a:spcBef>
                <a:spcPct val="0"/>
              </a:spcBef>
            </a:pPr>
            <a:r>
              <a:rPr lang="en-US" sz="1738" b="1">
                <a:solidFill>
                  <a:srgbClr val="FFFFFF"/>
                </a:solidFill>
                <a:latin typeface="Open Sans Medium"/>
                <a:ea typeface="Open Sans Medium"/>
                <a:cs typeface="Open Sans Medium"/>
                <a:sym typeface="Open Sans Medium"/>
              </a:rPr>
              <a:t>2. Aniq qaror qabul qilishda faktlar muhim rol o‘ynaydi. Faktlar siyosiy munozaralar, jamoat masalalarini muhokama qilish yoki shaxsiy qarorlar qabul qilish uchun asos bo'ladimi, to'g'ri va aniq ma'lumot xabardor va fngan qaror qabul qilishning asosiy elementidir.</a:t>
            </a:r>
          </a:p>
        </p:txBody>
      </p:sp>
      <p:sp>
        <p:nvSpPr>
          <p:cNvPr id="77" name="TextBox 77"/>
          <p:cNvSpPr txBox="1"/>
          <p:nvPr/>
        </p:nvSpPr>
        <p:spPr>
          <a:xfrm>
            <a:off x="9669563" y="7203002"/>
            <a:ext cx="4752795" cy="1054100"/>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FFFFFF"/>
                </a:solidFill>
                <a:latin typeface="Open Sans Medium"/>
                <a:ea typeface="Open Sans Medium"/>
                <a:cs typeface="Open Sans Medium"/>
                <a:sym typeface="Open Sans Medium"/>
              </a:rPr>
              <a:t>In a world flooded with marketing noise, Thynk Unlimited stands out as a beacon of creativity and effectiveness.</a:t>
            </a:r>
          </a:p>
        </p:txBody>
      </p:sp>
      <p:grpSp>
        <p:nvGrpSpPr>
          <p:cNvPr id="78" name="Group 78"/>
          <p:cNvGrpSpPr/>
          <p:nvPr/>
        </p:nvGrpSpPr>
        <p:grpSpPr>
          <a:xfrm>
            <a:off x="13887344" y="1028700"/>
            <a:ext cx="3987330" cy="3987330"/>
            <a:chOff x="0" y="0"/>
            <a:chExt cx="812800" cy="812800"/>
          </a:xfrm>
        </p:grpSpPr>
        <p:sp>
          <p:nvSpPr>
            <p:cNvPr id="79" name="Freeform 7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6F6F6"/>
              </a:solidFill>
              <a:prstDash val="solid"/>
              <a:miter/>
            </a:ln>
          </p:spPr>
        </p:sp>
        <p:sp>
          <p:nvSpPr>
            <p:cNvPr id="80" name="TextBox 8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1" name="Group 81"/>
          <p:cNvGrpSpPr/>
          <p:nvPr/>
        </p:nvGrpSpPr>
        <p:grpSpPr>
          <a:xfrm>
            <a:off x="15881009" y="10052"/>
            <a:ext cx="3063266" cy="10287000"/>
            <a:chOff x="0" y="0"/>
            <a:chExt cx="806786" cy="2709333"/>
          </a:xfrm>
        </p:grpSpPr>
        <p:sp>
          <p:nvSpPr>
            <p:cNvPr id="82" name="Freeform 82"/>
            <p:cNvSpPr/>
            <p:nvPr/>
          </p:nvSpPr>
          <p:spPr>
            <a:xfrm>
              <a:off x="0" y="0"/>
              <a:ext cx="806786" cy="2709333"/>
            </a:xfrm>
            <a:custGeom>
              <a:avLst/>
              <a:gdLst/>
              <a:ahLst/>
              <a:cxnLst/>
              <a:rect l="l" t="t" r="r" b="b"/>
              <a:pathLst>
                <a:path w="806786" h="2709333">
                  <a:moveTo>
                    <a:pt x="128894" y="0"/>
                  </a:moveTo>
                  <a:lnTo>
                    <a:pt x="677892" y="0"/>
                  </a:lnTo>
                  <a:cubicBezTo>
                    <a:pt x="749078" y="0"/>
                    <a:pt x="806786" y="57708"/>
                    <a:pt x="806786" y="128894"/>
                  </a:cubicBezTo>
                  <a:lnTo>
                    <a:pt x="806786" y="2580439"/>
                  </a:lnTo>
                  <a:cubicBezTo>
                    <a:pt x="806786" y="2614624"/>
                    <a:pt x="793206" y="2647409"/>
                    <a:pt x="769034" y="2671581"/>
                  </a:cubicBezTo>
                  <a:cubicBezTo>
                    <a:pt x="744861" y="2695753"/>
                    <a:pt x="712077" y="2709333"/>
                    <a:pt x="677892" y="2709333"/>
                  </a:cubicBezTo>
                  <a:lnTo>
                    <a:pt x="128894" y="2709333"/>
                  </a:lnTo>
                  <a:cubicBezTo>
                    <a:pt x="57708" y="2709333"/>
                    <a:pt x="0" y="2651625"/>
                    <a:pt x="0" y="2580439"/>
                  </a:cubicBezTo>
                  <a:lnTo>
                    <a:pt x="0" y="128894"/>
                  </a:lnTo>
                  <a:cubicBezTo>
                    <a:pt x="0" y="57708"/>
                    <a:pt x="57708" y="0"/>
                    <a:pt x="128894" y="0"/>
                  </a:cubicBezTo>
                  <a:close/>
                </a:path>
              </a:pathLst>
            </a:custGeom>
            <a:solidFill>
              <a:srgbClr val="0345E4"/>
            </a:solidFill>
          </p:spPr>
        </p:sp>
        <p:sp>
          <p:nvSpPr>
            <p:cNvPr id="83" name="TextBox 83"/>
            <p:cNvSpPr txBox="1"/>
            <p:nvPr/>
          </p:nvSpPr>
          <p:spPr>
            <a:xfrm>
              <a:off x="0" y="-38100"/>
              <a:ext cx="806786" cy="2747433"/>
            </a:xfrm>
            <a:prstGeom prst="rect">
              <a:avLst/>
            </a:prstGeom>
          </p:spPr>
          <p:txBody>
            <a:bodyPr lIns="50800" tIns="50800" rIns="50800" bIns="50800" rtlCol="0" anchor="ctr"/>
            <a:lstStyle/>
            <a:p>
              <a:pPr algn="ctr">
                <a:lnSpc>
                  <a:spcPts val="2659"/>
                </a:lnSpc>
              </a:pPr>
              <a:endParaRPr/>
            </a:p>
          </p:txBody>
        </p:sp>
      </p:grpSp>
      <p:sp>
        <p:nvSpPr>
          <p:cNvPr id="84" name="AutoShape 84"/>
          <p:cNvSpPr/>
          <p:nvPr/>
        </p:nvSpPr>
        <p:spPr>
          <a:xfrm>
            <a:off x="999052" y="1427163"/>
            <a:ext cx="1310100" cy="0"/>
          </a:xfrm>
          <a:prstGeom prst="line">
            <a:avLst/>
          </a:prstGeom>
          <a:ln w="95250" cap="flat">
            <a:solidFill>
              <a:srgbClr val="0345E4"/>
            </a:solidFill>
            <a:prstDash val="solid"/>
            <a:headEnd type="none" w="sm" len="sm"/>
            <a:tailEnd type="none" w="sm" len="sm"/>
          </a:ln>
        </p:spPr>
      </p:sp>
      <p:grpSp>
        <p:nvGrpSpPr>
          <p:cNvPr id="85" name="Group 85"/>
          <p:cNvGrpSpPr/>
          <p:nvPr/>
        </p:nvGrpSpPr>
        <p:grpSpPr>
          <a:xfrm>
            <a:off x="-1615919" y="6389388"/>
            <a:ext cx="3277467" cy="3277467"/>
            <a:chOff x="0" y="0"/>
            <a:chExt cx="812800" cy="812800"/>
          </a:xfrm>
        </p:grpSpPr>
        <p:sp>
          <p:nvSpPr>
            <p:cNvPr id="86" name="Freeform 8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0345E4">
                  <a:alpha val="19608"/>
                </a:srgbClr>
              </a:solidFill>
              <a:prstDash val="solid"/>
              <a:miter/>
            </a:ln>
          </p:spPr>
        </p:sp>
        <p:sp>
          <p:nvSpPr>
            <p:cNvPr id="87" name="TextBox 8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 b="-8888"/>
            </a:stretch>
          </a:blipFill>
        </p:spPr>
      </p:sp>
      <p:sp>
        <p:nvSpPr>
          <p:cNvPr id="3" name="TextBox 3"/>
          <p:cNvSpPr txBox="1"/>
          <p:nvPr/>
        </p:nvSpPr>
        <p:spPr>
          <a:xfrm>
            <a:off x="2765904" y="2579196"/>
            <a:ext cx="12756192" cy="2057400"/>
          </a:xfrm>
          <a:prstGeom prst="rect">
            <a:avLst/>
          </a:prstGeom>
        </p:spPr>
        <p:txBody>
          <a:bodyPr lIns="0" tIns="0" rIns="0" bIns="0" rtlCol="0" anchor="t">
            <a:spAutoFit/>
          </a:bodyPr>
          <a:lstStyle/>
          <a:p>
            <a:pPr algn="ctr">
              <a:lnSpc>
                <a:spcPts val="16800"/>
              </a:lnSpc>
            </a:pPr>
            <a:r>
              <a:rPr lang="en-US" sz="12000" b="1">
                <a:solidFill>
                  <a:srgbClr val="FFFFFF"/>
                </a:solidFill>
                <a:latin typeface="Garet Bold"/>
                <a:ea typeface="Garet Bold"/>
                <a:cs typeface="Garet Bold"/>
                <a:sym typeface="Garet Bold"/>
              </a:rPr>
              <a:t>FAKT CHEKING </a:t>
            </a:r>
          </a:p>
        </p:txBody>
      </p:sp>
      <p:sp>
        <p:nvSpPr>
          <p:cNvPr id="4" name="TextBox 4"/>
          <p:cNvSpPr txBox="1"/>
          <p:nvPr/>
        </p:nvSpPr>
        <p:spPr>
          <a:xfrm>
            <a:off x="2420683" y="5479633"/>
            <a:ext cx="12908192" cy="2451100"/>
          </a:xfrm>
          <a:prstGeom prst="rect">
            <a:avLst/>
          </a:prstGeom>
        </p:spPr>
        <p:txBody>
          <a:bodyPr lIns="0" tIns="0" rIns="0" bIns="0" rtlCol="0" anchor="t">
            <a:spAutoFit/>
          </a:bodyPr>
          <a:lstStyle/>
          <a:p>
            <a:pPr marL="0" lvl="0" indent="0" algn="ctr">
              <a:lnSpc>
                <a:spcPts val="4999"/>
              </a:lnSpc>
            </a:pPr>
            <a:r>
              <a:rPr lang="en-US" sz="2499">
                <a:solidFill>
                  <a:srgbClr val="FFFFFF"/>
                </a:solidFill>
                <a:latin typeface="Open Sans Light"/>
                <a:ea typeface="Open Sans Light"/>
                <a:cs typeface="Open Sans Light"/>
                <a:sym typeface="Open Sans Light"/>
              </a:rPr>
              <a:t>Fakt-chek jurnalistlar va ommaviy axborot vositalariga ishonchni saqlashga yordam beradi. Ommaviy axborot vositalari tanqid va axborotni manipulyatsiya qilishda gumon qilinayotgan davrda faktlarni tekshirish jurnalistlarga o'z mustaqilligi, aniqligi va auditoriya oldidagi mas'uliyatini isbotlashga yordam beradi.</a:t>
            </a:r>
          </a:p>
        </p:txBody>
      </p:sp>
      <p:sp>
        <p:nvSpPr>
          <p:cNvPr id="5" name="AutoShape 5"/>
          <p:cNvSpPr/>
          <p:nvPr/>
        </p:nvSpPr>
        <p:spPr>
          <a:xfrm>
            <a:off x="8488950" y="5027511"/>
            <a:ext cx="1310100" cy="0"/>
          </a:xfrm>
          <a:prstGeom prst="line">
            <a:avLst/>
          </a:prstGeom>
          <a:ln w="95250" cap="flat">
            <a:solidFill>
              <a:srgbClr val="FFFFFF"/>
            </a:solidFill>
            <a:prstDash val="solid"/>
            <a:headEnd type="none" w="sm" len="sm"/>
            <a:tailEnd type="none" w="sm" len="sm"/>
          </a:ln>
        </p:spPr>
      </p:sp>
      <p:sp>
        <p:nvSpPr>
          <p:cNvPr id="6" name="Freeform 6"/>
          <p:cNvSpPr/>
          <p:nvPr/>
        </p:nvSpPr>
        <p:spPr>
          <a:xfrm>
            <a:off x="7482480" y="605879"/>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7" name="Group 7"/>
          <p:cNvGrpSpPr/>
          <p:nvPr/>
        </p:nvGrpSpPr>
        <p:grpSpPr>
          <a:xfrm>
            <a:off x="15664971" y="-782737"/>
            <a:ext cx="3744615" cy="374461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FFFFFF">
                  <a:alpha val="19608"/>
                </a:srgbClr>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755020" y="7356528"/>
            <a:ext cx="2350854" cy="235085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0" cap="sq">
              <a:solidFill>
                <a:srgbClr val="FFFFFF">
                  <a:alpha val="19608"/>
                </a:srgbClr>
              </a:solidFill>
              <a:prstDash val="solid"/>
              <a:miter/>
            </a:ln>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857</Words>
  <Application>Microsoft Office PowerPoint</Application>
  <PresentationFormat>Произвольный</PresentationFormat>
  <Paragraphs>41</Paragraphs>
  <Slides>10</Slides>
  <Notes>0</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10</vt:i4>
      </vt:variant>
    </vt:vector>
  </HeadingPairs>
  <TitlesOfParts>
    <vt:vector size="20" baseType="lpstr">
      <vt:lpstr>Arial</vt:lpstr>
      <vt:lpstr>Montserrat Semi-Bold</vt:lpstr>
      <vt:lpstr>Calibri</vt:lpstr>
      <vt:lpstr>Garet</vt:lpstr>
      <vt:lpstr>Open Sans Light</vt:lpstr>
      <vt:lpstr>Open Sans Bold</vt:lpstr>
      <vt:lpstr>Open Sans Medium</vt:lpstr>
      <vt:lpstr>Open Sans</vt:lpstr>
      <vt:lpstr>Garet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cp:lastModifiedBy>POJ</cp:lastModifiedBy>
  <cp:revision>2</cp:revision>
  <dcterms:created xsi:type="dcterms:W3CDTF">2006-08-16T00:00:00Z</dcterms:created>
  <dcterms:modified xsi:type="dcterms:W3CDTF">2026-06-01T09:19:47Z</dcterms:modified>
  <dc:identifier>DAHLT94LvFs</dc:identifier>
</cp:coreProperties>
</file>