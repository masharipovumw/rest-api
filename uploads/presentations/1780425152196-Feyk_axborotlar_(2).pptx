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grandir Medium" charset="1" panose="00000600000000000000"/>
      <p:regular r:id="rId17"/>
    </p:embeddedFont>
    <p:embeddedFont>
      <p:font typeface="Montserrat" charset="1" panose="00000500000000000000"/>
      <p:regular r:id="rId18"/>
    </p:embeddedFont>
    <p:embeddedFont>
      <p:font typeface="Montserrat Bold" charset="1" panose="00000800000000000000"/>
      <p:regular r:id="rId19"/>
    </p:embeddedFont>
    <p:embeddedFont>
      <p:font typeface="Agrandir" charset="1" panose="00000500000000000000"/>
      <p:regular r:id="rId20"/>
    </p:embeddedFont>
    <p:embeddedFont>
      <p:font typeface="Agrandir Bold" charset="1" panose="00000800000000000000"/>
      <p:regular r:id="rId21"/>
    </p:embeddedFont>
    <p:embeddedFont>
      <p:font typeface="Anton"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7899285" y="-322045"/>
            <a:ext cx="13695921" cy="12370171"/>
            <a:chOff x="0" y="0"/>
            <a:chExt cx="911723" cy="823469"/>
          </a:xfrm>
        </p:grpSpPr>
        <p:sp>
          <p:nvSpPr>
            <p:cNvPr name="Freeform 4" id="4"/>
            <p:cNvSpPr/>
            <p:nvPr/>
          </p:nvSpPr>
          <p:spPr>
            <a:xfrm flipH="false" flipV="false" rot="0">
              <a:off x="0" y="0"/>
              <a:ext cx="911723" cy="823470"/>
            </a:xfrm>
            <a:custGeom>
              <a:avLst/>
              <a:gdLst/>
              <a:ahLst/>
              <a:cxnLst/>
              <a:rect r="r" b="b" t="t" l="l"/>
              <a:pathLst>
                <a:path h="823470" w="911723">
                  <a:moveTo>
                    <a:pt x="203200" y="0"/>
                  </a:moveTo>
                  <a:lnTo>
                    <a:pt x="911723" y="0"/>
                  </a:lnTo>
                  <a:lnTo>
                    <a:pt x="708523" y="823470"/>
                  </a:lnTo>
                  <a:lnTo>
                    <a:pt x="0" y="823470"/>
                  </a:lnTo>
                  <a:lnTo>
                    <a:pt x="203200" y="0"/>
                  </a:lnTo>
                  <a:close/>
                </a:path>
              </a:pathLst>
            </a:custGeom>
            <a:solidFill>
              <a:srgbClr val="0B151B"/>
            </a:solidFill>
          </p:spPr>
        </p:sp>
        <p:sp>
          <p:nvSpPr>
            <p:cNvPr name="TextBox 5" id="5"/>
            <p:cNvSpPr txBox="true"/>
            <p:nvPr/>
          </p:nvSpPr>
          <p:spPr>
            <a:xfrm>
              <a:off x="101600" y="-38100"/>
              <a:ext cx="708523" cy="861569"/>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3250909">
            <a:off x="8585911" y="9667957"/>
            <a:ext cx="7609535" cy="5353706"/>
            <a:chOff x="0" y="0"/>
            <a:chExt cx="866460" cy="609600"/>
          </a:xfrm>
        </p:grpSpPr>
        <p:sp>
          <p:nvSpPr>
            <p:cNvPr name="Freeform 7" id="7"/>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D4D2CA">
                    <a:alpha val="100000"/>
                  </a:srgbClr>
                </a:gs>
                <a:gs pos="100000">
                  <a:srgbClr val="FFFFFF">
                    <a:alpha val="100000"/>
                  </a:srgbClr>
                </a:gs>
              </a:gsLst>
              <a:lin ang="0"/>
            </a:gradFill>
          </p:spPr>
        </p:sp>
        <p:sp>
          <p:nvSpPr>
            <p:cNvPr name="TextBox 8" id="8"/>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9360276" y="4434577"/>
            <a:ext cx="9202622" cy="3019425"/>
          </a:xfrm>
          <a:prstGeom prst="rect">
            <a:avLst/>
          </a:prstGeom>
        </p:spPr>
        <p:txBody>
          <a:bodyPr anchor="t" rtlCol="false" tIns="0" lIns="0" bIns="0" rIns="0">
            <a:spAutoFit/>
          </a:bodyPr>
          <a:lstStyle/>
          <a:p>
            <a:pPr algn="ctr">
              <a:lnSpc>
                <a:spcPts val="10884"/>
              </a:lnSpc>
            </a:pPr>
            <a:r>
              <a:rPr lang="en-US" b="true" sz="9070" spc="616">
                <a:solidFill>
                  <a:srgbClr val="FFFFFF"/>
                </a:solidFill>
                <a:latin typeface="Agrandir Medium"/>
                <a:ea typeface="Agrandir Medium"/>
                <a:cs typeface="Agrandir Medium"/>
                <a:sym typeface="Agrandir Medium"/>
              </a:rPr>
              <a:t>FEYK AXBOROTLAR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667663" y="2229537"/>
            <a:ext cx="8402313" cy="6141876"/>
            <a:chOff x="0" y="0"/>
            <a:chExt cx="2212955" cy="1617613"/>
          </a:xfrm>
        </p:grpSpPr>
        <p:sp>
          <p:nvSpPr>
            <p:cNvPr name="Freeform 4" id="4"/>
            <p:cNvSpPr/>
            <p:nvPr/>
          </p:nvSpPr>
          <p:spPr>
            <a:xfrm flipH="false" flipV="false" rot="0">
              <a:off x="0" y="0"/>
              <a:ext cx="2212955" cy="1617613"/>
            </a:xfrm>
            <a:custGeom>
              <a:avLst/>
              <a:gdLst/>
              <a:ahLst/>
              <a:cxnLst/>
              <a:rect r="r" b="b" t="t" l="l"/>
              <a:pathLst>
                <a:path h="1617613" w="2212955">
                  <a:moveTo>
                    <a:pt x="0" y="0"/>
                  </a:moveTo>
                  <a:lnTo>
                    <a:pt x="2212955" y="0"/>
                  </a:lnTo>
                  <a:lnTo>
                    <a:pt x="2212955" y="1617613"/>
                  </a:lnTo>
                  <a:lnTo>
                    <a:pt x="0" y="1617613"/>
                  </a:lnTo>
                  <a:close/>
                </a:path>
              </a:pathLst>
            </a:custGeom>
            <a:gradFill rotWithShape="true">
              <a:gsLst>
                <a:gs pos="0">
                  <a:srgbClr val="D4D2CA">
                    <a:alpha val="100000"/>
                  </a:srgbClr>
                </a:gs>
                <a:gs pos="100000">
                  <a:srgbClr val="FFFFFF">
                    <a:alpha val="100000"/>
                  </a:srgbClr>
                </a:gs>
              </a:gsLst>
              <a:lin ang="0"/>
            </a:gradFill>
          </p:spPr>
        </p:sp>
        <p:sp>
          <p:nvSpPr>
            <p:cNvPr name="TextBox 5" id="5"/>
            <p:cNvSpPr txBox="true"/>
            <p:nvPr/>
          </p:nvSpPr>
          <p:spPr>
            <a:xfrm>
              <a:off x="0" y="-104775"/>
              <a:ext cx="2212955" cy="1722388"/>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028700" y="2741995"/>
            <a:ext cx="7680239" cy="5116959"/>
          </a:xfrm>
          <a:custGeom>
            <a:avLst/>
            <a:gdLst/>
            <a:ahLst/>
            <a:cxnLst/>
            <a:rect r="r" b="b" t="t" l="l"/>
            <a:pathLst>
              <a:path h="5116959" w="7680239">
                <a:moveTo>
                  <a:pt x="0" y="0"/>
                </a:moveTo>
                <a:lnTo>
                  <a:pt x="7680239" y="0"/>
                </a:lnTo>
                <a:lnTo>
                  <a:pt x="7680239" y="5116959"/>
                </a:lnTo>
                <a:lnTo>
                  <a:pt x="0" y="5116959"/>
                </a:lnTo>
                <a:lnTo>
                  <a:pt x="0" y="0"/>
                </a:lnTo>
                <a:close/>
              </a:path>
            </a:pathLst>
          </a:custGeom>
          <a:blipFill>
            <a:blip r:embed="rId3"/>
            <a:stretch>
              <a:fillRect l="0" t="0" r="0" b="0"/>
            </a:stretch>
          </a:blipFill>
        </p:spPr>
      </p:sp>
      <p:grpSp>
        <p:nvGrpSpPr>
          <p:cNvPr name="Group 7" id="7"/>
          <p:cNvGrpSpPr/>
          <p:nvPr/>
        </p:nvGrpSpPr>
        <p:grpSpPr>
          <a:xfrm rot="3250909">
            <a:off x="12594489" y="9102847"/>
            <a:ext cx="7609535" cy="5353706"/>
            <a:chOff x="0" y="0"/>
            <a:chExt cx="866460" cy="609600"/>
          </a:xfrm>
        </p:grpSpPr>
        <p:sp>
          <p:nvSpPr>
            <p:cNvPr name="Freeform 8" id="8"/>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D4D2CA">
                    <a:alpha val="100000"/>
                  </a:srgbClr>
                </a:gs>
                <a:gs pos="100000">
                  <a:srgbClr val="FFFFFF">
                    <a:alpha val="100000"/>
                  </a:srgbClr>
                </a:gs>
              </a:gsLst>
              <a:lin ang="0"/>
            </a:gradFill>
          </p:spPr>
        </p:sp>
        <p:sp>
          <p:nvSpPr>
            <p:cNvPr name="TextBox 9" id="9"/>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7710970" y="689049"/>
            <a:ext cx="1514528" cy="339651"/>
          </a:xfrm>
          <a:prstGeom prst="rect">
            <a:avLst/>
          </a:prstGeom>
        </p:spPr>
        <p:txBody>
          <a:bodyPr anchor="t" rtlCol="false" tIns="0" lIns="0" bIns="0" rIns="0">
            <a:spAutoFit/>
          </a:bodyPr>
          <a:lstStyle/>
          <a:p>
            <a:pPr algn="ctr">
              <a:lnSpc>
                <a:spcPts val="2800"/>
              </a:lnSpc>
            </a:pPr>
            <a:r>
              <a:rPr lang="en-US" sz="2000">
                <a:solidFill>
                  <a:srgbClr val="FFFFFF"/>
                </a:solidFill>
                <a:latin typeface="Montserrat"/>
                <a:ea typeface="Montserrat"/>
                <a:cs typeface="Montserrat"/>
                <a:sym typeface="Montserrat"/>
              </a:rPr>
              <a:t>Home</a:t>
            </a:r>
          </a:p>
        </p:txBody>
      </p:sp>
      <p:sp>
        <p:nvSpPr>
          <p:cNvPr name="TextBox 11" id="11"/>
          <p:cNvSpPr txBox="true"/>
          <p:nvPr/>
        </p:nvSpPr>
        <p:spPr>
          <a:xfrm rot="0">
            <a:off x="10391615" y="689049"/>
            <a:ext cx="1514528" cy="339651"/>
          </a:xfrm>
          <a:prstGeom prst="rect">
            <a:avLst/>
          </a:prstGeom>
        </p:spPr>
        <p:txBody>
          <a:bodyPr anchor="t" rtlCol="false" tIns="0" lIns="0" bIns="0" rIns="0">
            <a:spAutoFit/>
          </a:bodyPr>
          <a:lstStyle/>
          <a:p>
            <a:pPr algn="ctr">
              <a:lnSpc>
                <a:spcPts val="2800"/>
              </a:lnSpc>
            </a:pPr>
            <a:r>
              <a:rPr lang="en-US" sz="2000" b="true">
                <a:solidFill>
                  <a:srgbClr val="FFFFFF"/>
                </a:solidFill>
                <a:latin typeface="Montserrat Bold"/>
                <a:ea typeface="Montserrat Bold"/>
                <a:cs typeface="Montserrat Bold"/>
                <a:sym typeface="Montserrat Bold"/>
              </a:rPr>
              <a:t>About</a:t>
            </a:r>
          </a:p>
        </p:txBody>
      </p:sp>
      <p:sp>
        <p:nvSpPr>
          <p:cNvPr name="TextBox 12" id="12"/>
          <p:cNvSpPr txBox="true"/>
          <p:nvPr/>
        </p:nvSpPr>
        <p:spPr>
          <a:xfrm rot="0">
            <a:off x="13068193" y="689049"/>
            <a:ext cx="1514528" cy="339651"/>
          </a:xfrm>
          <a:prstGeom prst="rect">
            <a:avLst/>
          </a:prstGeom>
        </p:spPr>
        <p:txBody>
          <a:bodyPr anchor="t" rtlCol="false" tIns="0" lIns="0" bIns="0" rIns="0">
            <a:spAutoFit/>
          </a:bodyPr>
          <a:lstStyle/>
          <a:p>
            <a:pPr algn="ctr">
              <a:lnSpc>
                <a:spcPts val="2800"/>
              </a:lnSpc>
            </a:pPr>
            <a:r>
              <a:rPr lang="en-US" sz="2000">
                <a:solidFill>
                  <a:srgbClr val="FFFFFF"/>
                </a:solidFill>
                <a:latin typeface="Montserrat"/>
                <a:ea typeface="Montserrat"/>
                <a:cs typeface="Montserrat"/>
                <a:sym typeface="Montserrat"/>
              </a:rPr>
              <a:t>Project</a:t>
            </a:r>
          </a:p>
        </p:txBody>
      </p:sp>
      <p:sp>
        <p:nvSpPr>
          <p:cNvPr name="TextBox 13" id="13"/>
          <p:cNvSpPr txBox="true"/>
          <p:nvPr/>
        </p:nvSpPr>
        <p:spPr>
          <a:xfrm rot="0">
            <a:off x="15744772" y="689049"/>
            <a:ext cx="1514528" cy="339651"/>
          </a:xfrm>
          <a:prstGeom prst="rect">
            <a:avLst/>
          </a:prstGeom>
        </p:spPr>
        <p:txBody>
          <a:bodyPr anchor="t" rtlCol="false" tIns="0" lIns="0" bIns="0" rIns="0">
            <a:spAutoFit/>
          </a:bodyPr>
          <a:lstStyle/>
          <a:p>
            <a:pPr algn="ctr">
              <a:lnSpc>
                <a:spcPts val="2800"/>
              </a:lnSpc>
            </a:pPr>
            <a:r>
              <a:rPr lang="en-US" sz="2000">
                <a:solidFill>
                  <a:srgbClr val="FFFFFF"/>
                </a:solidFill>
                <a:latin typeface="Montserrat"/>
                <a:ea typeface="Montserrat"/>
                <a:cs typeface="Montserrat"/>
                <a:sym typeface="Montserrat"/>
              </a:rPr>
              <a:t>Contact</a:t>
            </a:r>
          </a:p>
        </p:txBody>
      </p:sp>
      <p:sp>
        <p:nvSpPr>
          <p:cNvPr name="TextBox 14" id="14"/>
          <p:cNvSpPr txBox="true"/>
          <p:nvPr/>
        </p:nvSpPr>
        <p:spPr>
          <a:xfrm rot="0">
            <a:off x="9457117" y="2096187"/>
            <a:ext cx="8312036" cy="7349236"/>
          </a:xfrm>
          <a:prstGeom prst="rect">
            <a:avLst/>
          </a:prstGeom>
        </p:spPr>
        <p:txBody>
          <a:bodyPr anchor="t" rtlCol="false" tIns="0" lIns="0" bIns="0" rIns="0">
            <a:spAutoFit/>
          </a:bodyPr>
          <a:lstStyle/>
          <a:p>
            <a:pPr algn="ctr">
              <a:lnSpc>
                <a:spcPts val="3898"/>
              </a:lnSpc>
            </a:pPr>
            <a:r>
              <a:rPr lang="en-US" sz="2784">
                <a:solidFill>
                  <a:srgbClr val="FFFFFF"/>
                </a:solidFill>
                <a:latin typeface="Agrandir"/>
                <a:ea typeface="Agrandir"/>
                <a:cs typeface="Agrandir"/>
                <a:sym typeface="Agrandir"/>
              </a:rPr>
              <a:t>Bugungi globallashuv va axborotlashgan jamiyat davrida insoniyat doimiy axborot bosimi ostida yashamoqda. Axborot nafaqat bilim manbai, balki ijtimoiy ongni boshqarish va manipulyatsiya qilish quroliga ham aylandi. Bu jarayonda eng xavfli illatlardan biri feyk axborotlardir.</a:t>
            </a:r>
          </a:p>
          <a:p>
            <a:pPr algn="ctr">
              <a:lnSpc>
                <a:spcPts val="3898"/>
              </a:lnSpc>
            </a:pPr>
            <a:r>
              <a:rPr lang="en-US" sz="2784">
                <a:solidFill>
                  <a:srgbClr val="FFFFFF"/>
                </a:solidFill>
                <a:latin typeface="Agrandir"/>
                <a:ea typeface="Agrandir"/>
                <a:cs typeface="Agrandir"/>
                <a:sym typeface="Agrandir"/>
              </a:rPr>
              <a:t>Feyk xabar (inglizcha "fake news" — soxta yangiliklar) — bu biron-bir jismoniy, yuridik shaxs, ijtimoiy guruh yoki davlatga zarar yetkazish, jamiyatda vahima uyg‘otish, iqtisodiy yoki siyosiy dividendlar olish maqsadida qasddan to‘qib chiqarilgan va haqiqat sifatida taqdim etiladigan yolg‘on ma’lumotlardir.</a:t>
            </a:r>
          </a:p>
          <a:p>
            <a:pPr algn="ctr">
              <a:lnSpc>
                <a:spcPts val="3898"/>
              </a:lnSpc>
            </a:pPr>
            <a:r>
              <a:rPr lang="en-US" sz="2784">
                <a:solidFill>
                  <a:srgbClr val="FFFFFF"/>
                </a:solidFill>
                <a:latin typeface="Agrandir"/>
                <a:ea typeface="Agrandir"/>
                <a:cs typeface="Agrandir"/>
                <a:sym typeface="Agrandir"/>
              </a:rPr>
              <a:t>Ilmiy adabiyotlarda yolg‘on axborotlar maqsadiga ko‘ra uchta asosiy tushunchaga ajratiladi: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TextBox 3" id="3"/>
          <p:cNvSpPr txBox="true"/>
          <p:nvPr/>
        </p:nvSpPr>
        <p:spPr>
          <a:xfrm rot="0">
            <a:off x="2788092" y="583682"/>
            <a:ext cx="13243499" cy="1952625"/>
          </a:xfrm>
          <a:prstGeom prst="rect">
            <a:avLst/>
          </a:prstGeom>
        </p:spPr>
        <p:txBody>
          <a:bodyPr anchor="t" rtlCol="false" tIns="0" lIns="0" bIns="0" rIns="0">
            <a:spAutoFit/>
          </a:bodyPr>
          <a:lstStyle/>
          <a:p>
            <a:pPr algn="ctr">
              <a:lnSpc>
                <a:spcPts val="4800"/>
              </a:lnSpc>
            </a:pPr>
            <a:r>
              <a:rPr lang="en-US" b="true" sz="4000">
                <a:solidFill>
                  <a:srgbClr val="FFFFFF"/>
                </a:solidFill>
                <a:latin typeface="Agrandir Bold"/>
                <a:ea typeface="Agrandir Bold"/>
                <a:cs typeface="Agrandir Bold"/>
                <a:sym typeface="Agrandir Bold"/>
              </a:rPr>
              <a:t>ILMIY ADABIYOTLARDA YOLG‘ON AXBOROTLAR MAQSADIGA KO‘RA UCHTA ASOSIY TUSHUNCHAGA AJRATILADI:</a:t>
            </a:r>
          </a:p>
        </p:txBody>
      </p:sp>
      <p:sp>
        <p:nvSpPr>
          <p:cNvPr name="TextBox 4" id="4"/>
          <p:cNvSpPr txBox="true"/>
          <p:nvPr/>
        </p:nvSpPr>
        <p:spPr>
          <a:xfrm rot="0">
            <a:off x="1145221" y="3155432"/>
            <a:ext cx="502887" cy="701531"/>
          </a:xfrm>
          <a:prstGeom prst="rect">
            <a:avLst/>
          </a:prstGeom>
        </p:spPr>
        <p:txBody>
          <a:bodyPr anchor="t" rtlCol="false" tIns="0" lIns="0" bIns="0" rIns="0">
            <a:spAutoFit/>
          </a:bodyPr>
          <a:lstStyle/>
          <a:p>
            <a:pPr algn="r">
              <a:lnSpc>
                <a:spcPts val="4907"/>
              </a:lnSpc>
            </a:pPr>
            <a:r>
              <a:rPr lang="en-US" b="true" sz="3505">
                <a:solidFill>
                  <a:srgbClr val="FFFFFF"/>
                </a:solidFill>
                <a:latin typeface="Agrandir Bold"/>
                <a:ea typeface="Agrandir Bold"/>
                <a:cs typeface="Agrandir Bold"/>
                <a:sym typeface="Agrandir Bold"/>
              </a:rPr>
              <a:t>1.</a:t>
            </a:r>
          </a:p>
        </p:txBody>
      </p:sp>
      <p:sp>
        <p:nvSpPr>
          <p:cNvPr name="TextBox 5" id="5"/>
          <p:cNvSpPr txBox="true"/>
          <p:nvPr/>
        </p:nvSpPr>
        <p:spPr>
          <a:xfrm rot="0">
            <a:off x="1235385" y="4813772"/>
            <a:ext cx="412722" cy="701531"/>
          </a:xfrm>
          <a:prstGeom prst="rect">
            <a:avLst/>
          </a:prstGeom>
        </p:spPr>
        <p:txBody>
          <a:bodyPr anchor="t" rtlCol="false" tIns="0" lIns="0" bIns="0" rIns="0">
            <a:spAutoFit/>
          </a:bodyPr>
          <a:lstStyle/>
          <a:p>
            <a:pPr algn="r">
              <a:lnSpc>
                <a:spcPts val="4907"/>
              </a:lnSpc>
            </a:pPr>
            <a:r>
              <a:rPr lang="en-US" b="true" sz="3505">
                <a:solidFill>
                  <a:srgbClr val="FFFFFF"/>
                </a:solidFill>
                <a:latin typeface="Agrandir Bold"/>
                <a:ea typeface="Agrandir Bold"/>
                <a:cs typeface="Agrandir Bold"/>
                <a:sym typeface="Agrandir Bold"/>
              </a:rPr>
              <a:t>2.</a:t>
            </a:r>
          </a:p>
        </p:txBody>
      </p:sp>
      <p:sp>
        <p:nvSpPr>
          <p:cNvPr name="TextBox 6" id="6"/>
          <p:cNvSpPr txBox="true"/>
          <p:nvPr/>
        </p:nvSpPr>
        <p:spPr>
          <a:xfrm rot="0">
            <a:off x="1235385" y="6472113"/>
            <a:ext cx="412722" cy="701531"/>
          </a:xfrm>
          <a:prstGeom prst="rect">
            <a:avLst/>
          </a:prstGeom>
        </p:spPr>
        <p:txBody>
          <a:bodyPr anchor="t" rtlCol="false" tIns="0" lIns="0" bIns="0" rIns="0">
            <a:spAutoFit/>
          </a:bodyPr>
          <a:lstStyle/>
          <a:p>
            <a:pPr algn="r">
              <a:lnSpc>
                <a:spcPts val="4907"/>
              </a:lnSpc>
            </a:pPr>
            <a:r>
              <a:rPr lang="en-US" b="true" sz="3505">
                <a:solidFill>
                  <a:srgbClr val="FFFFFF"/>
                </a:solidFill>
                <a:latin typeface="Agrandir Bold"/>
                <a:ea typeface="Agrandir Bold"/>
                <a:cs typeface="Agrandir Bold"/>
                <a:sym typeface="Agrandir Bold"/>
              </a:rPr>
              <a:t>3.</a:t>
            </a:r>
          </a:p>
        </p:txBody>
      </p:sp>
      <p:sp>
        <p:nvSpPr>
          <p:cNvPr name="TextBox 7" id="7"/>
          <p:cNvSpPr txBox="true"/>
          <p:nvPr/>
        </p:nvSpPr>
        <p:spPr>
          <a:xfrm rot="0">
            <a:off x="1826067" y="3091326"/>
            <a:ext cx="14627293" cy="1704975"/>
          </a:xfrm>
          <a:prstGeom prst="rect">
            <a:avLst/>
          </a:prstGeom>
        </p:spPr>
        <p:txBody>
          <a:bodyPr anchor="t" rtlCol="false" tIns="0" lIns="0" bIns="0" rIns="0">
            <a:spAutoFit/>
          </a:bodyPr>
          <a:lstStyle/>
          <a:p>
            <a:pPr algn="l">
              <a:lnSpc>
                <a:spcPts val="4216"/>
              </a:lnSpc>
            </a:pPr>
            <a:r>
              <a:rPr lang="en-US" sz="3513" b="true">
                <a:solidFill>
                  <a:srgbClr val="FFFFFF"/>
                </a:solidFill>
                <a:latin typeface="Agrandir Bold"/>
                <a:ea typeface="Agrandir Bold"/>
                <a:cs typeface="Agrandir Bold"/>
                <a:sym typeface="Agrandir Bold"/>
              </a:rPr>
              <a:t>Misinformatsiya (Misinformation): Oqibatini o‘ylamay, qasddan emas, balki shunchaki adashib, xatolik tufayli tarqatilgan yolg‘on axborot.</a:t>
            </a:r>
          </a:p>
        </p:txBody>
      </p:sp>
      <p:sp>
        <p:nvSpPr>
          <p:cNvPr name="TextBox 8" id="8"/>
          <p:cNvSpPr txBox="true"/>
          <p:nvPr/>
        </p:nvSpPr>
        <p:spPr>
          <a:xfrm rot="0">
            <a:off x="1826067" y="6557838"/>
            <a:ext cx="14413383" cy="1457325"/>
          </a:xfrm>
          <a:prstGeom prst="rect">
            <a:avLst/>
          </a:prstGeom>
        </p:spPr>
        <p:txBody>
          <a:bodyPr anchor="t" rtlCol="false" tIns="0" lIns="0" bIns="0" rIns="0">
            <a:spAutoFit/>
          </a:bodyPr>
          <a:lstStyle/>
          <a:p>
            <a:pPr algn="l">
              <a:lnSpc>
                <a:spcPts val="3600"/>
              </a:lnSpc>
            </a:pPr>
            <a:r>
              <a:rPr lang="en-US" sz="3000" b="true">
                <a:solidFill>
                  <a:srgbClr val="FFFFFF"/>
                </a:solidFill>
                <a:latin typeface="Agrandir Bold"/>
                <a:ea typeface="Agrandir Bold"/>
                <a:cs typeface="Agrandir Bold"/>
                <a:sym typeface="Agrandir Bold"/>
              </a:rPr>
              <a:t>Malinformatsiya (Malinformation): Haqiqiy faktlarga asoslangan, ammo shaxs yoki davlatga zarar yetkazish maqsadida kontekstdan yulinib, g‘arazli maqsadda e’lon qilingan axborot.</a:t>
            </a:r>
          </a:p>
        </p:txBody>
      </p:sp>
      <p:grpSp>
        <p:nvGrpSpPr>
          <p:cNvPr name="Group 9" id="9"/>
          <p:cNvGrpSpPr/>
          <p:nvPr/>
        </p:nvGrpSpPr>
        <p:grpSpPr>
          <a:xfrm rot="3250909">
            <a:off x="13650965" y="9374937"/>
            <a:ext cx="7609535" cy="5353706"/>
            <a:chOff x="0" y="0"/>
            <a:chExt cx="866460" cy="609600"/>
          </a:xfrm>
        </p:grpSpPr>
        <p:sp>
          <p:nvSpPr>
            <p:cNvPr name="Freeform 10" id="10"/>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D4D2CA">
                    <a:alpha val="100000"/>
                  </a:srgbClr>
                </a:gs>
                <a:gs pos="100000">
                  <a:srgbClr val="FFFFFF">
                    <a:alpha val="100000"/>
                  </a:srgbClr>
                </a:gs>
              </a:gsLst>
              <a:lin ang="0"/>
            </a:gradFill>
          </p:spPr>
        </p:sp>
        <p:sp>
          <p:nvSpPr>
            <p:cNvPr name="TextBox 11" id="11"/>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3250909">
            <a:off x="-3333708" y="-4401703"/>
            <a:ext cx="7609535" cy="5353706"/>
            <a:chOff x="0" y="0"/>
            <a:chExt cx="866460" cy="609600"/>
          </a:xfrm>
        </p:grpSpPr>
        <p:sp>
          <p:nvSpPr>
            <p:cNvPr name="Freeform 13" id="13"/>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D4D2CA">
                    <a:alpha val="100000"/>
                  </a:srgbClr>
                </a:gs>
                <a:gs pos="100000">
                  <a:srgbClr val="FFFFFF">
                    <a:alpha val="100000"/>
                  </a:srgbClr>
                </a:gs>
              </a:gsLst>
              <a:lin ang="0"/>
            </a:gradFill>
          </p:spPr>
        </p:sp>
        <p:sp>
          <p:nvSpPr>
            <p:cNvPr name="TextBox 14" id="14"/>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826067" y="4928072"/>
            <a:ext cx="15032640" cy="1152530"/>
          </a:xfrm>
          <a:prstGeom prst="rect">
            <a:avLst/>
          </a:prstGeom>
        </p:spPr>
        <p:txBody>
          <a:bodyPr anchor="t" rtlCol="false" tIns="0" lIns="0" bIns="0" rIns="0">
            <a:spAutoFit/>
          </a:bodyPr>
          <a:lstStyle/>
          <a:p>
            <a:pPr algn="l">
              <a:lnSpc>
                <a:spcPts val="4724"/>
              </a:lnSpc>
              <a:spcBef>
                <a:spcPct val="0"/>
              </a:spcBef>
            </a:pPr>
            <a:r>
              <a:rPr lang="en-US" sz="3374">
                <a:solidFill>
                  <a:srgbClr val="FFFFFF"/>
                </a:solidFill>
                <a:latin typeface="Anton"/>
                <a:ea typeface="Anton"/>
                <a:cs typeface="Anton"/>
                <a:sym typeface="Anton"/>
              </a:rPr>
              <a:t>Dezinformatsiya (Disinformation):Odamlarni chalg‘itish va zarar yetkazish maqsadida qasddan, rejalashtirilgan holda tarqatilgan soxta ma’lumot.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3250909">
            <a:off x="11421923" y="-4892743"/>
            <a:ext cx="7609535" cy="5353706"/>
            <a:chOff x="0" y="0"/>
            <a:chExt cx="866460" cy="609600"/>
          </a:xfrm>
        </p:grpSpPr>
        <p:sp>
          <p:nvSpPr>
            <p:cNvPr name="Freeform 4" id="4"/>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D4D2CA">
                    <a:alpha val="55000"/>
                  </a:srgbClr>
                </a:gs>
                <a:gs pos="100000">
                  <a:srgbClr val="FFFFFF">
                    <a:alpha val="55000"/>
                  </a:srgbClr>
                </a:gs>
              </a:gsLst>
              <a:lin ang="0"/>
            </a:gradFill>
          </p:spPr>
        </p:sp>
        <p:sp>
          <p:nvSpPr>
            <p:cNvPr name="TextBox 5" id="5"/>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3250909">
            <a:off x="-6111144" y="-1605706"/>
            <a:ext cx="7104447" cy="4998350"/>
            <a:chOff x="0" y="0"/>
            <a:chExt cx="866460" cy="609600"/>
          </a:xfrm>
        </p:grpSpPr>
        <p:sp>
          <p:nvSpPr>
            <p:cNvPr name="Freeform 7" id="7"/>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D4D2CA">
                    <a:alpha val="53000"/>
                  </a:srgbClr>
                </a:gs>
                <a:gs pos="100000">
                  <a:srgbClr val="FFFFFF">
                    <a:alpha val="53000"/>
                  </a:srgbClr>
                </a:gs>
              </a:gsLst>
              <a:lin ang="0"/>
            </a:gradFill>
          </p:spPr>
        </p:sp>
        <p:sp>
          <p:nvSpPr>
            <p:cNvPr name="TextBox 8" id="8"/>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519982" y="3887702"/>
            <a:ext cx="6741523" cy="4491539"/>
          </a:xfrm>
          <a:custGeom>
            <a:avLst/>
            <a:gdLst/>
            <a:ahLst/>
            <a:cxnLst/>
            <a:rect r="r" b="b" t="t" l="l"/>
            <a:pathLst>
              <a:path h="4491539" w="6741523">
                <a:moveTo>
                  <a:pt x="0" y="0"/>
                </a:moveTo>
                <a:lnTo>
                  <a:pt x="6741523" y="0"/>
                </a:lnTo>
                <a:lnTo>
                  <a:pt x="6741523" y="4491539"/>
                </a:lnTo>
                <a:lnTo>
                  <a:pt x="0" y="4491539"/>
                </a:lnTo>
                <a:lnTo>
                  <a:pt x="0" y="0"/>
                </a:lnTo>
                <a:close/>
              </a:path>
            </a:pathLst>
          </a:custGeom>
          <a:blipFill>
            <a:blip r:embed="rId3"/>
            <a:stretch>
              <a:fillRect l="0" t="0" r="0" b="0"/>
            </a:stretch>
          </a:blipFill>
        </p:spPr>
      </p:sp>
      <p:sp>
        <p:nvSpPr>
          <p:cNvPr name="TextBox 10" id="10"/>
          <p:cNvSpPr txBox="true"/>
          <p:nvPr/>
        </p:nvSpPr>
        <p:spPr>
          <a:xfrm rot="0">
            <a:off x="8120174" y="3374044"/>
            <a:ext cx="9445133" cy="4752160"/>
          </a:xfrm>
          <a:prstGeom prst="rect">
            <a:avLst/>
          </a:prstGeom>
        </p:spPr>
        <p:txBody>
          <a:bodyPr anchor="t" rtlCol="false" tIns="0" lIns="0" bIns="0" rIns="0">
            <a:spAutoFit/>
          </a:bodyPr>
          <a:lstStyle/>
          <a:p>
            <a:pPr algn="just">
              <a:lnSpc>
                <a:spcPts val="2490"/>
              </a:lnSpc>
            </a:pPr>
            <a:r>
              <a:rPr lang="en-US" sz="2075">
                <a:solidFill>
                  <a:srgbClr val="FFFFFF"/>
                </a:solidFill>
                <a:latin typeface="Agrandir"/>
                <a:ea typeface="Agrandir"/>
                <a:cs typeface="Agrandir"/>
                <a:sym typeface="Agrandir"/>
              </a:rPr>
              <a:t>Faktni tekshirishning pedagogik algoritmi:</a:t>
            </a:r>
          </a:p>
          <a:p>
            <a:pPr algn="just">
              <a:lnSpc>
                <a:spcPts val="2490"/>
              </a:lnSpc>
            </a:pPr>
            <a:r>
              <a:rPr lang="en-US" sz="2075">
                <a:solidFill>
                  <a:srgbClr val="FFFFFF"/>
                </a:solidFill>
                <a:latin typeface="Agrandir"/>
                <a:ea typeface="Agrandir"/>
                <a:cs typeface="Agrandir"/>
                <a:sym typeface="Agrandir"/>
              </a:rPr>
              <a:t> 1. Birlamchi manbani qidirish: Xabarning ostida „Falon kanaldan olindi“ yoki „Odamlarning aytishicha“ kabi mavhum birikmalar bo‘lsa, bu feykning birinchi belgisidir. Rasmiy axborot agentliklari va davlat organlarining saytlari tekshirilishi kerak.</a:t>
            </a:r>
          </a:p>
          <a:p>
            <a:pPr algn="just">
              <a:lnSpc>
                <a:spcPts val="2490"/>
              </a:lnSpc>
            </a:pPr>
            <a:r>
              <a:rPr lang="en-US" sz="2075">
                <a:solidFill>
                  <a:srgbClr val="FFFFFF"/>
                </a:solidFill>
                <a:latin typeface="Agrandir"/>
                <a:ea typeface="Agrandir"/>
                <a:cs typeface="Agrandir"/>
                <a:sym typeface="Agrandir"/>
              </a:rPr>
              <a:t> 2. Ekspertiza va iqtiboslar tahlili: Matnda keltirilgan raqamlar, qonun hujjatlari nomlari mavjudligini tekshirish.</a:t>
            </a:r>
          </a:p>
          <a:p>
            <a:pPr algn="just">
              <a:lnSpc>
                <a:spcPts val="2490"/>
              </a:lnSpc>
            </a:pPr>
            <a:r>
              <a:rPr lang="en-US" sz="2075">
                <a:solidFill>
                  <a:srgbClr val="FFFFFF"/>
                </a:solidFill>
                <a:latin typeface="Agrandir"/>
                <a:ea typeface="Agrandir"/>
                <a:cs typeface="Agrandir"/>
                <a:sym typeface="Agrandir"/>
              </a:rPr>
              <a:t> 3. Vizual tahlil: Rasmlarni teskari qidiruv tizimlari (Google Images, TinEye) orqali tekshirib, rasm birinchi marta qachon internetga yuklanganini aniqlash.</a:t>
            </a:r>
          </a:p>
          <a:p>
            <a:pPr algn="just">
              <a:lnSpc>
                <a:spcPts val="2490"/>
              </a:lnSpc>
            </a:pPr>
            <a:r>
              <a:rPr lang="en-US" sz="2075">
                <a:solidFill>
                  <a:srgbClr val="FFFFFF"/>
                </a:solidFill>
                <a:latin typeface="Agrandir"/>
                <a:ea typeface="Agrandir"/>
                <a:cs typeface="Agrandir"/>
                <a:sym typeface="Agrandir"/>
              </a:rPr>
              <a:t> 4. Emotsionallik darajasi: Agar matn o‘quvchida haddan tashqari qo‘rquv, vahima, nafrat yoki haddan ziyod shodlik hissini uyg‘otishga yo‘naltirilgan bo‘lsa, demak bu yerda psixologik manipulyatsiya mavjud.</a:t>
            </a:r>
          </a:p>
          <a:p>
            <a:pPr algn="just">
              <a:lnSpc>
                <a:spcPts val="2490"/>
              </a:lnSpc>
            </a:pPr>
            <a:r>
              <a:rPr lang="en-US" sz="2075">
                <a:solidFill>
                  <a:srgbClr val="FFFFFF"/>
                </a:solidFill>
                <a:latin typeface="Agrandir"/>
                <a:ea typeface="Agrandir"/>
                <a:cs typeface="Agrandir"/>
                <a:sym typeface="Agrandir"/>
              </a:rPr>
              <a:t>&gt; Raqamli gigiyena — bu internet tarmog‘idan foydalanishda ruhiy va axborot xavfsizligini ta’minlashga qaratilgan qoidalar majmuidir. Uning eng muhim qoidasi: "Tekshirmasdan turib, ulashma (repost qilma)!"</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0B151B"/>
        </a:solidFill>
      </p:bgPr>
    </p:bg>
    <p:spTree>
      <p:nvGrpSpPr>
        <p:cNvPr id="1" name=""/>
        <p:cNvGrpSpPr/>
        <p:nvPr/>
      </p:nvGrpSpPr>
      <p:grpSpPr>
        <a:xfrm>
          <a:off x="0" y="0"/>
          <a:ext cx="0" cy="0"/>
          <a:chOff x="0" y="0"/>
          <a:chExt cx="0" cy="0"/>
        </a:xfrm>
      </p:grpSpPr>
      <p:grpSp>
        <p:nvGrpSpPr>
          <p:cNvPr name="Group 2" id="2"/>
          <p:cNvGrpSpPr/>
          <p:nvPr/>
        </p:nvGrpSpPr>
        <p:grpSpPr>
          <a:xfrm rot="0">
            <a:off x="2311024" y="2019300"/>
            <a:ext cx="13145231" cy="7172325"/>
            <a:chOff x="0" y="0"/>
            <a:chExt cx="17526974" cy="9563100"/>
          </a:xfrm>
        </p:grpSpPr>
        <p:sp>
          <p:nvSpPr>
            <p:cNvPr name="TextBox 3" id="3"/>
            <p:cNvSpPr txBox="true"/>
            <p:nvPr/>
          </p:nvSpPr>
          <p:spPr>
            <a:xfrm rot="0">
              <a:off x="746251" y="-95250"/>
              <a:ext cx="6985944" cy="704850"/>
            </a:xfrm>
            <a:prstGeom prst="rect">
              <a:avLst/>
            </a:prstGeom>
          </p:spPr>
          <p:txBody>
            <a:bodyPr anchor="t" rtlCol="false" tIns="0" lIns="0" bIns="0" rIns="0">
              <a:spAutoFit/>
            </a:bodyPr>
            <a:lstStyle/>
            <a:p>
              <a:pPr algn="l">
                <a:lnSpc>
                  <a:spcPts val="3623"/>
                </a:lnSpc>
              </a:pPr>
            </a:p>
          </p:txBody>
        </p:sp>
        <p:sp>
          <p:nvSpPr>
            <p:cNvPr name="TextBox 4" id="4"/>
            <p:cNvSpPr txBox="true"/>
            <p:nvPr/>
          </p:nvSpPr>
          <p:spPr>
            <a:xfrm rot="0">
              <a:off x="0" y="533400"/>
              <a:ext cx="17526974" cy="9029700"/>
            </a:xfrm>
            <a:prstGeom prst="rect">
              <a:avLst/>
            </a:prstGeom>
          </p:spPr>
          <p:txBody>
            <a:bodyPr anchor="t" rtlCol="false" tIns="0" lIns="0" bIns="0" rIns="0">
              <a:spAutoFit/>
            </a:bodyPr>
            <a:lstStyle/>
            <a:p>
              <a:pPr algn="just">
                <a:lnSpc>
                  <a:spcPts val="3595"/>
                </a:lnSpc>
              </a:pPr>
              <a:r>
                <a:rPr lang="en-US" sz="2995">
                  <a:solidFill>
                    <a:srgbClr val="FFFFFF"/>
                  </a:solidFill>
                  <a:latin typeface="Agrandir"/>
                  <a:ea typeface="Agrandir"/>
                  <a:cs typeface="Agrandir"/>
                  <a:sym typeface="Agrandir"/>
                </a:rPr>
                <a:t>O’zbekiston Respublikasi qonunchiligida yolg‘on axborot tarqatganlik uchun belgilangan javobgarlik</a:t>
              </a:r>
            </a:p>
            <a:p>
              <a:pPr algn="just">
                <a:lnSpc>
                  <a:spcPts val="3595"/>
                </a:lnSpc>
              </a:pPr>
              <a:r>
                <a:rPr lang="en-US" sz="2995">
                  <a:solidFill>
                    <a:srgbClr val="FFFFFF"/>
                  </a:solidFill>
                  <a:latin typeface="Agrandir"/>
                  <a:ea typeface="Agrandir"/>
                  <a:cs typeface="Agrandir"/>
                  <a:sym typeface="Agrandir"/>
                </a:rPr>
                <a:t>Axborot makonini huquqiy tartibga solish — davlat xavfsizligining ajralmas qismidir. O‘zbekiston Respublikasi qonunchiligida feyk va yolg‘on xabarlarni tarqatganlik uchun javobgarlik choralari kuchaytirilgan.</a:t>
              </a:r>
            </a:p>
            <a:p>
              <a:pPr algn="just">
                <a:lnSpc>
                  <a:spcPts val="3595"/>
                </a:lnSpc>
              </a:pPr>
              <a:r>
                <a:rPr lang="en-US" sz="2995">
                  <a:solidFill>
                    <a:srgbClr val="FFFFFF"/>
                  </a:solidFill>
                  <a:latin typeface="Agrandir"/>
                  <a:ea typeface="Agrandir"/>
                  <a:cs typeface="Agrandir"/>
                  <a:sym typeface="Agrandir"/>
                </a:rPr>
                <a:t> * Ma’muriy javobgarlik to‘g‘risidagi kodeksning 202-2-moddasiga muvofiq: Jamoat tartibiga yoki xavfsizligiga tahdid soluvchi yolg‘on axborotni tarqatish, nashr qilish yoki OAV va internetga joylashtirish yirik miqdorda jarima solishga sabab bo‘ladi.</a:t>
              </a:r>
            </a:p>
            <a:p>
              <a:pPr algn="just">
                <a:lnSpc>
                  <a:spcPts val="3595"/>
                </a:lnSpc>
              </a:pPr>
              <a:r>
                <a:rPr lang="en-US" sz="2995">
                  <a:solidFill>
                    <a:srgbClr val="FFFFFF"/>
                  </a:solidFill>
                  <a:latin typeface="Agrandir"/>
                  <a:ea typeface="Agrandir"/>
                  <a:cs typeface="Agrandir"/>
                  <a:sym typeface="Agrandir"/>
                </a:rPr>
                <a:t> * Jinoyat kodeksining 244-6-moddasiga muvofiq: Agar bunday qilmishlar ma’muriy jazo qo‘llanilganidan keyin ham takroran sodir etilsa, yoki tizimli ravishda, yirik zarar yetkazgan holda amalga oshirilsa, jinoiy javobgarlikka (bazaviy hisoblash miqdorining bir necha yuz baravari miqdorida jarimadan tortib, ozodlikni cheklash yoki ozodlikdan mahrum qilishgacha) sabab bo‘lishi mumkin.</a:t>
              </a:r>
            </a:p>
          </p:txBody>
        </p:sp>
      </p:grpSp>
      <p:grpSp>
        <p:nvGrpSpPr>
          <p:cNvPr name="Group 5" id="5"/>
          <p:cNvGrpSpPr/>
          <p:nvPr/>
        </p:nvGrpSpPr>
        <p:grpSpPr>
          <a:xfrm rot="3250909">
            <a:off x="13650965" y="9374937"/>
            <a:ext cx="7609535" cy="5353706"/>
            <a:chOff x="0" y="0"/>
            <a:chExt cx="866460" cy="609600"/>
          </a:xfrm>
        </p:grpSpPr>
        <p:sp>
          <p:nvSpPr>
            <p:cNvPr name="Freeform 6" id="6"/>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D4D2CA">
                    <a:alpha val="100000"/>
                  </a:srgbClr>
                </a:gs>
                <a:gs pos="100000">
                  <a:srgbClr val="FFFFFF">
                    <a:alpha val="100000"/>
                  </a:srgbClr>
                </a:gs>
              </a:gsLst>
              <a:lin ang="0"/>
            </a:gradFill>
          </p:spPr>
        </p:sp>
        <p:sp>
          <p:nvSpPr>
            <p:cNvPr name="TextBox 7" id="7"/>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3250909">
            <a:off x="-3333708" y="-4401703"/>
            <a:ext cx="7609535" cy="5353706"/>
            <a:chOff x="0" y="0"/>
            <a:chExt cx="866460" cy="609600"/>
          </a:xfrm>
        </p:grpSpPr>
        <p:sp>
          <p:nvSpPr>
            <p:cNvPr name="Freeform 9" id="9"/>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D4D2CA">
                    <a:alpha val="100000"/>
                  </a:srgbClr>
                </a:gs>
                <a:gs pos="100000">
                  <a:srgbClr val="FFFFFF">
                    <a:alpha val="100000"/>
                  </a:srgbClr>
                </a:gs>
              </a:gsLst>
              <a:lin ang="0"/>
            </a:gradFill>
          </p:spPr>
        </p:sp>
        <p:sp>
          <p:nvSpPr>
            <p:cNvPr name="TextBox 10" id="10"/>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10800000">
            <a:off x="806411" y="1765823"/>
            <a:ext cx="12522761" cy="7643252"/>
            <a:chOff x="0" y="0"/>
            <a:chExt cx="1994463" cy="1217318"/>
          </a:xfrm>
        </p:grpSpPr>
        <p:sp>
          <p:nvSpPr>
            <p:cNvPr name="Freeform 4" id="4"/>
            <p:cNvSpPr/>
            <p:nvPr/>
          </p:nvSpPr>
          <p:spPr>
            <a:xfrm flipH="false" flipV="false" rot="0">
              <a:off x="0" y="0"/>
              <a:ext cx="1994463" cy="1217318"/>
            </a:xfrm>
            <a:custGeom>
              <a:avLst/>
              <a:gdLst/>
              <a:ahLst/>
              <a:cxnLst/>
              <a:rect r="r" b="b" t="t" l="l"/>
              <a:pathLst>
                <a:path h="1217318" w="1994463">
                  <a:moveTo>
                    <a:pt x="203200" y="0"/>
                  </a:moveTo>
                  <a:lnTo>
                    <a:pt x="1994463" y="0"/>
                  </a:lnTo>
                  <a:lnTo>
                    <a:pt x="1791263" y="1217318"/>
                  </a:lnTo>
                  <a:lnTo>
                    <a:pt x="0" y="1217318"/>
                  </a:lnTo>
                  <a:lnTo>
                    <a:pt x="203200" y="0"/>
                  </a:lnTo>
                  <a:close/>
                </a:path>
              </a:pathLst>
            </a:custGeom>
            <a:solidFill>
              <a:srgbClr val="FFFFFF">
                <a:alpha val="55686"/>
              </a:srgbClr>
            </a:solidFill>
          </p:spPr>
        </p:sp>
        <p:sp>
          <p:nvSpPr>
            <p:cNvPr name="TextBox 5" id="5"/>
            <p:cNvSpPr txBox="true"/>
            <p:nvPr/>
          </p:nvSpPr>
          <p:spPr>
            <a:xfrm>
              <a:off x="101600" y="-85725"/>
              <a:ext cx="1791263" cy="130304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6530055">
            <a:off x="-897023" y="-4846354"/>
            <a:ext cx="7609535" cy="5353706"/>
            <a:chOff x="0" y="0"/>
            <a:chExt cx="866460" cy="609600"/>
          </a:xfrm>
        </p:grpSpPr>
        <p:sp>
          <p:nvSpPr>
            <p:cNvPr name="Freeform 7" id="7"/>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D4D2CA">
                    <a:alpha val="72000"/>
                  </a:srgbClr>
                </a:gs>
                <a:gs pos="100000">
                  <a:srgbClr val="FFFFFF">
                    <a:alpha val="72000"/>
                  </a:srgbClr>
                </a:gs>
              </a:gsLst>
              <a:lin ang="0"/>
            </a:gradFill>
          </p:spPr>
        </p:sp>
        <p:sp>
          <p:nvSpPr>
            <p:cNvPr name="TextBox 8" id="8"/>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6530055">
            <a:off x="13107627" y="9221800"/>
            <a:ext cx="7609535" cy="5353706"/>
            <a:chOff x="0" y="0"/>
            <a:chExt cx="866460" cy="609600"/>
          </a:xfrm>
        </p:grpSpPr>
        <p:sp>
          <p:nvSpPr>
            <p:cNvPr name="Freeform 10" id="10"/>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D4D2CA">
                    <a:alpha val="72000"/>
                  </a:srgbClr>
                </a:gs>
                <a:gs pos="100000">
                  <a:srgbClr val="FFFFFF">
                    <a:alpha val="72000"/>
                  </a:srgbClr>
                </a:gs>
              </a:gsLst>
              <a:lin ang="0"/>
            </a:gradFill>
          </p:spPr>
        </p:sp>
        <p:sp>
          <p:nvSpPr>
            <p:cNvPr name="TextBox 11" id="11"/>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3329172" y="1824569"/>
            <a:ext cx="7166445" cy="6336312"/>
            <a:chOff x="0" y="0"/>
            <a:chExt cx="1265873" cy="1119239"/>
          </a:xfrm>
        </p:grpSpPr>
        <p:sp>
          <p:nvSpPr>
            <p:cNvPr name="Freeform 13" id="13"/>
            <p:cNvSpPr/>
            <p:nvPr/>
          </p:nvSpPr>
          <p:spPr>
            <a:xfrm flipH="false" flipV="false" rot="0">
              <a:off x="0" y="0"/>
              <a:ext cx="1265873" cy="1119239"/>
            </a:xfrm>
            <a:custGeom>
              <a:avLst/>
              <a:gdLst/>
              <a:ahLst/>
              <a:cxnLst/>
              <a:rect r="r" b="b" t="t" l="l"/>
              <a:pathLst>
                <a:path h="1119239" w="1265873">
                  <a:moveTo>
                    <a:pt x="203200" y="0"/>
                  </a:moveTo>
                  <a:lnTo>
                    <a:pt x="1265873" y="0"/>
                  </a:lnTo>
                  <a:lnTo>
                    <a:pt x="1062673" y="1119239"/>
                  </a:lnTo>
                  <a:lnTo>
                    <a:pt x="0" y="1119239"/>
                  </a:lnTo>
                  <a:lnTo>
                    <a:pt x="203200" y="0"/>
                  </a:lnTo>
                  <a:close/>
                </a:path>
              </a:pathLst>
            </a:custGeom>
            <a:blipFill>
              <a:blip r:embed="rId3"/>
              <a:stretch>
                <a:fillRect l="0" t="-34825" r="0" b="-34825"/>
              </a:stretch>
            </a:blipFill>
          </p:spPr>
        </p:sp>
      </p:grpSp>
      <p:sp>
        <p:nvSpPr>
          <p:cNvPr name="TextBox 14" id="14"/>
          <p:cNvSpPr txBox="true"/>
          <p:nvPr/>
        </p:nvSpPr>
        <p:spPr>
          <a:xfrm rot="0">
            <a:off x="2355690" y="3140834"/>
            <a:ext cx="9424203" cy="4856480"/>
          </a:xfrm>
          <a:prstGeom prst="rect">
            <a:avLst/>
          </a:prstGeom>
        </p:spPr>
        <p:txBody>
          <a:bodyPr anchor="t" rtlCol="false" tIns="0" lIns="0" bIns="0" rIns="0">
            <a:spAutoFit/>
          </a:bodyPr>
          <a:lstStyle/>
          <a:p>
            <a:pPr algn="just">
              <a:lnSpc>
                <a:spcPts val="3219"/>
              </a:lnSpc>
            </a:pPr>
            <a:r>
              <a:rPr lang="en-US" sz="2299">
                <a:solidFill>
                  <a:srgbClr val="0B151B"/>
                </a:solidFill>
                <a:latin typeface="Agrandir"/>
                <a:ea typeface="Agrandir"/>
                <a:cs typeface="Agrandir"/>
                <a:sym typeface="Agrandir"/>
              </a:rPr>
              <a:t>O‘zbekistonda internetdan foydalanuvchilari soni 20 millionga yetdi. 1,6 million kishi esa har kuni ijtimoiy tarmoqlardan faol foydalanadi. Bu raqamlar Internet allaqachon platformaga aylanganligini ko'rsatadi. jamoatchilik e'tiborining markazida bo'lib, ahamiyati ortib bormoqdamazmuni haqiqiymi yoki yo'qmi. Milliy virtual makonni tahlil qilsak, bunga guvoh bo‘lamiz ijtimoiy tarmoqlarda ma'lumotlarning o'zidan ko'ra ko'proq havolalar mavjud. Shunisi qiziqki, rasmiy veb-saytlar turli ijtimoiy guruhlarga tegishli ma’lumotlarni tasdiqlamasdan e’lon qiladi. Misol uchun, bir qator Facebook guruhlari rasmiy saytlarimiz uchun axborot manbalariga aylandi. Lekin oxir-oqibat axborotni tekshirish ommaviy axborot vositalari va jurnalistlarning asosiy vazifalaridan biridir.</a:t>
            </a:r>
          </a:p>
        </p:txBody>
      </p:sp>
      <p:grpSp>
        <p:nvGrpSpPr>
          <p:cNvPr name="Group 15" id="15"/>
          <p:cNvGrpSpPr/>
          <p:nvPr/>
        </p:nvGrpSpPr>
        <p:grpSpPr>
          <a:xfrm rot="0">
            <a:off x="8659590" y="727149"/>
            <a:ext cx="8599710" cy="301625"/>
            <a:chOff x="0" y="0"/>
            <a:chExt cx="11466280" cy="402167"/>
          </a:xfrm>
        </p:grpSpPr>
        <p:sp>
          <p:nvSpPr>
            <p:cNvPr name="TextBox 16" id="16"/>
            <p:cNvSpPr txBox="true"/>
            <p:nvPr/>
          </p:nvSpPr>
          <p:spPr>
            <a:xfrm rot="0">
              <a:off x="0" y="-104775"/>
              <a:ext cx="2019371" cy="506942"/>
            </a:xfrm>
            <a:prstGeom prst="rect">
              <a:avLst/>
            </a:prstGeom>
          </p:spPr>
          <p:txBody>
            <a:bodyPr anchor="t" rtlCol="false" tIns="0" lIns="0" bIns="0" rIns="0">
              <a:spAutoFit/>
            </a:bodyPr>
            <a:lstStyle/>
            <a:p>
              <a:pPr algn="ctr">
                <a:lnSpc>
                  <a:spcPts val="2800"/>
                </a:lnSpc>
              </a:pPr>
              <a:r>
                <a:rPr lang="en-US" sz="2000">
                  <a:solidFill>
                    <a:srgbClr val="FFFFFF"/>
                  </a:solidFill>
                  <a:latin typeface="Agrandir"/>
                  <a:ea typeface="Agrandir"/>
                  <a:cs typeface="Agrandir"/>
                  <a:sym typeface="Agrandir"/>
                </a:rPr>
                <a:t>Home</a:t>
              </a:r>
            </a:p>
          </p:txBody>
        </p:sp>
        <p:sp>
          <p:nvSpPr>
            <p:cNvPr name="TextBox 17" id="17"/>
            <p:cNvSpPr txBox="true"/>
            <p:nvPr/>
          </p:nvSpPr>
          <p:spPr>
            <a:xfrm rot="0">
              <a:off x="3149671" y="-104775"/>
              <a:ext cx="2019371" cy="506942"/>
            </a:xfrm>
            <a:prstGeom prst="rect">
              <a:avLst/>
            </a:prstGeom>
          </p:spPr>
          <p:txBody>
            <a:bodyPr anchor="t" rtlCol="false" tIns="0" lIns="0" bIns="0" rIns="0">
              <a:spAutoFit/>
            </a:bodyPr>
            <a:lstStyle/>
            <a:p>
              <a:pPr algn="ctr">
                <a:lnSpc>
                  <a:spcPts val="2800"/>
                </a:lnSpc>
              </a:pPr>
              <a:r>
                <a:rPr lang="en-US" sz="2000">
                  <a:solidFill>
                    <a:srgbClr val="FFFFFF"/>
                  </a:solidFill>
                  <a:latin typeface="Agrandir"/>
                  <a:ea typeface="Agrandir"/>
                  <a:cs typeface="Agrandir"/>
                  <a:sym typeface="Agrandir"/>
                </a:rPr>
                <a:t>About</a:t>
              </a:r>
            </a:p>
          </p:txBody>
        </p:sp>
        <p:sp>
          <p:nvSpPr>
            <p:cNvPr name="TextBox 18" id="18"/>
            <p:cNvSpPr txBox="true"/>
            <p:nvPr/>
          </p:nvSpPr>
          <p:spPr>
            <a:xfrm rot="0">
              <a:off x="6299342" y="-104775"/>
              <a:ext cx="2019371" cy="506942"/>
            </a:xfrm>
            <a:prstGeom prst="rect">
              <a:avLst/>
            </a:prstGeom>
          </p:spPr>
          <p:txBody>
            <a:bodyPr anchor="t" rtlCol="false" tIns="0" lIns="0" bIns="0" rIns="0">
              <a:spAutoFit/>
            </a:bodyPr>
            <a:lstStyle/>
            <a:p>
              <a:pPr algn="ctr">
                <a:lnSpc>
                  <a:spcPts val="2800"/>
                </a:lnSpc>
              </a:pPr>
              <a:r>
                <a:rPr lang="en-US" sz="2000" b="true">
                  <a:solidFill>
                    <a:srgbClr val="FFFFFF"/>
                  </a:solidFill>
                  <a:latin typeface="Agrandir Bold"/>
                  <a:ea typeface="Agrandir Bold"/>
                  <a:cs typeface="Agrandir Bold"/>
                  <a:sym typeface="Agrandir Bold"/>
                </a:rPr>
                <a:t>Project</a:t>
              </a:r>
            </a:p>
          </p:txBody>
        </p:sp>
        <p:sp>
          <p:nvSpPr>
            <p:cNvPr name="TextBox 19" id="19"/>
            <p:cNvSpPr txBox="true"/>
            <p:nvPr/>
          </p:nvSpPr>
          <p:spPr>
            <a:xfrm rot="0">
              <a:off x="9446908" y="-104775"/>
              <a:ext cx="2019371" cy="506942"/>
            </a:xfrm>
            <a:prstGeom prst="rect">
              <a:avLst/>
            </a:prstGeom>
          </p:spPr>
          <p:txBody>
            <a:bodyPr anchor="t" rtlCol="false" tIns="0" lIns="0" bIns="0" rIns="0">
              <a:spAutoFit/>
            </a:bodyPr>
            <a:lstStyle/>
            <a:p>
              <a:pPr algn="ctr">
                <a:lnSpc>
                  <a:spcPts val="2800"/>
                </a:lnSpc>
              </a:pPr>
              <a:r>
                <a:rPr lang="en-US" sz="2000">
                  <a:solidFill>
                    <a:srgbClr val="FFFFFF"/>
                  </a:solidFill>
                  <a:latin typeface="Agrandir"/>
                  <a:ea typeface="Agrandir"/>
                  <a:cs typeface="Agrandir"/>
                  <a:sym typeface="Agrandir"/>
                </a:rPr>
                <a:t>Contact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5400000">
            <a:off x="13066954" y="5607081"/>
            <a:ext cx="4895520" cy="5400061"/>
            <a:chOff x="0" y="0"/>
            <a:chExt cx="552644" cy="609600"/>
          </a:xfrm>
        </p:grpSpPr>
        <p:sp>
          <p:nvSpPr>
            <p:cNvPr name="Freeform 4" id="4"/>
            <p:cNvSpPr/>
            <p:nvPr/>
          </p:nvSpPr>
          <p:spPr>
            <a:xfrm flipH="false" flipV="false" rot="5400000">
              <a:off x="-28478" y="28478"/>
              <a:ext cx="609600" cy="552644"/>
            </a:xfrm>
            <a:custGeom>
              <a:avLst/>
              <a:gdLst/>
              <a:ahLst/>
              <a:cxnLst/>
              <a:rect r="r" b="b" t="t" l="l"/>
              <a:pathLst>
                <a:path h="552644" w="609600">
                  <a:moveTo>
                    <a:pt x="0" y="349444"/>
                  </a:moveTo>
                  <a:lnTo>
                    <a:pt x="0" y="0"/>
                  </a:lnTo>
                  <a:lnTo>
                    <a:pt x="609600" y="203200"/>
                  </a:lnTo>
                  <a:lnTo>
                    <a:pt x="609600" y="552644"/>
                  </a:lnTo>
                  <a:lnTo>
                    <a:pt x="0" y="349444"/>
                  </a:lnTo>
                  <a:close/>
                </a:path>
              </a:pathLst>
            </a:custGeom>
            <a:blipFill>
              <a:blip r:embed="rId3"/>
              <a:stretch>
                <a:fillRect l="-25046" t="-5153" r="-25046" b="-5153"/>
              </a:stretch>
            </a:blipFill>
          </p:spPr>
        </p:sp>
      </p:grpSp>
      <p:grpSp>
        <p:nvGrpSpPr>
          <p:cNvPr name="Group 5" id="5"/>
          <p:cNvGrpSpPr/>
          <p:nvPr/>
        </p:nvGrpSpPr>
        <p:grpSpPr>
          <a:xfrm rot="-5400000">
            <a:off x="-1374690" y="-4914255"/>
            <a:ext cx="7609535" cy="5353706"/>
            <a:chOff x="0" y="0"/>
            <a:chExt cx="866460" cy="609600"/>
          </a:xfrm>
        </p:grpSpPr>
        <p:sp>
          <p:nvSpPr>
            <p:cNvPr name="Freeform 6" id="6"/>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D4D2CA">
                    <a:alpha val="72000"/>
                  </a:srgbClr>
                </a:gs>
                <a:gs pos="100000">
                  <a:srgbClr val="FFFFFF">
                    <a:alpha val="72000"/>
                  </a:srgbClr>
                </a:gs>
              </a:gsLst>
              <a:lin ang="0"/>
            </a:gradFill>
          </p:spPr>
        </p:sp>
        <p:sp>
          <p:nvSpPr>
            <p:cNvPr name="TextBox 7" id="7"/>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400000">
            <a:off x="-2050913" y="9133132"/>
            <a:ext cx="7609535" cy="5353706"/>
            <a:chOff x="0" y="0"/>
            <a:chExt cx="866460" cy="609600"/>
          </a:xfrm>
        </p:grpSpPr>
        <p:sp>
          <p:nvSpPr>
            <p:cNvPr name="Freeform 9" id="9"/>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D4D2CA">
                    <a:alpha val="72000"/>
                  </a:srgbClr>
                </a:gs>
                <a:gs pos="100000">
                  <a:srgbClr val="FFFFFF">
                    <a:alpha val="72000"/>
                  </a:srgbClr>
                </a:gs>
              </a:gsLst>
              <a:lin ang="0"/>
            </a:gradFill>
          </p:spPr>
        </p:sp>
        <p:sp>
          <p:nvSpPr>
            <p:cNvPr name="TextBox 10" id="10"/>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5400000">
            <a:off x="12490701" y="10679978"/>
            <a:ext cx="7609535" cy="5353706"/>
            <a:chOff x="0" y="0"/>
            <a:chExt cx="866460" cy="609600"/>
          </a:xfrm>
        </p:grpSpPr>
        <p:sp>
          <p:nvSpPr>
            <p:cNvPr name="Freeform 12" id="12"/>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696763">
                    <a:alpha val="72000"/>
                  </a:srgbClr>
                </a:gs>
                <a:gs pos="100000">
                  <a:srgbClr val="C4C6C1">
                    <a:alpha val="72000"/>
                  </a:srgbClr>
                </a:gs>
              </a:gsLst>
              <a:lin ang="0"/>
            </a:gradFill>
          </p:spPr>
        </p:sp>
        <p:sp>
          <p:nvSpPr>
            <p:cNvPr name="TextBox 13" id="13"/>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211715" y="1443540"/>
            <a:ext cx="15083754" cy="4629518"/>
          </a:xfrm>
          <a:prstGeom prst="rect">
            <a:avLst/>
          </a:prstGeom>
        </p:spPr>
        <p:txBody>
          <a:bodyPr anchor="t" rtlCol="false" tIns="0" lIns="0" bIns="0" rIns="0">
            <a:spAutoFit/>
          </a:bodyPr>
          <a:lstStyle/>
          <a:p>
            <a:pPr algn="ctr">
              <a:lnSpc>
                <a:spcPts val="3654"/>
              </a:lnSpc>
            </a:pPr>
            <a:r>
              <a:rPr lang="en-US" sz="2610">
                <a:solidFill>
                  <a:srgbClr val="FFFFFF"/>
                </a:solidFill>
                <a:latin typeface="Agrandir"/>
                <a:ea typeface="Agrandir"/>
                <a:cs typeface="Agrandir"/>
                <a:sym typeface="Agrandir"/>
              </a:rPr>
              <a:t>Milliy virtual makonda axborot tarqatuvchilarni uch guruhga bo'lish mumkin. Bular rasmiy saytlar, o'z sahifalarida yangiliklarni nashr etadigan ijtimoiy tarmoqlar foydalanuvchilari va bloggerlar. Ko'pincha soxta yangiliklar ijtimoiy tarmoq foydalanuvchilari tomonidan tarqatiladi. Bunday ma'lumotlarning shakli, mazmuni va hajmining xilma-xilligiga qaramay, ular ko'pincha ma'lumot manbasini tekshirmasdan Internetda nashr etiladi. Ko'pchilik bo'lgan milliy virtual makonda soxta yangiliklar, ijtimoiy tarmoqlar va yangiliklar saytlari iste'molchilari ikki toifaga bo'linadi. Birinchi toifadagilar unchalik ahamiyat bermaydi. Ikkinchi toifa har bir postga ishonadi (kim va qanday maqsadda chop etilishidan qat'iy nazar) va hatto hissa qo'shadi. Rossiyalik tadqiqotchi Elena Proninaning so'zlariga ko'ra, ommaning ta'siriga tushib qolgan har bir kishi yangilikdan xabardor bo'lishi mumkin.</a:t>
            </a:r>
          </a:p>
        </p:txBody>
      </p:sp>
      <p:grpSp>
        <p:nvGrpSpPr>
          <p:cNvPr name="Group 15" id="15"/>
          <p:cNvGrpSpPr/>
          <p:nvPr/>
        </p:nvGrpSpPr>
        <p:grpSpPr>
          <a:xfrm rot="-5400000">
            <a:off x="5496375" y="6335052"/>
            <a:ext cx="7557504" cy="8336393"/>
            <a:chOff x="0" y="0"/>
            <a:chExt cx="552644" cy="609600"/>
          </a:xfrm>
        </p:grpSpPr>
        <p:sp>
          <p:nvSpPr>
            <p:cNvPr name="Freeform 16" id="16"/>
            <p:cNvSpPr/>
            <p:nvPr/>
          </p:nvSpPr>
          <p:spPr>
            <a:xfrm flipH="false" flipV="false" rot="5310854">
              <a:off x="-30272" y="20668"/>
              <a:ext cx="613187" cy="568264"/>
            </a:xfrm>
            <a:custGeom>
              <a:avLst/>
              <a:gdLst/>
              <a:ahLst/>
              <a:cxnLst/>
              <a:rect r="r" b="b" t="t" l="l"/>
              <a:pathLst>
                <a:path h="568264" w="613187">
                  <a:moveTo>
                    <a:pt x="0" y="349326"/>
                  </a:moveTo>
                  <a:lnTo>
                    <a:pt x="9061" y="0"/>
                  </a:lnTo>
                  <a:lnTo>
                    <a:pt x="613187" y="218938"/>
                  </a:lnTo>
                  <a:lnTo>
                    <a:pt x="604127" y="568264"/>
                  </a:lnTo>
                  <a:lnTo>
                    <a:pt x="0" y="349326"/>
                  </a:lnTo>
                  <a:close/>
                </a:path>
              </a:pathLst>
            </a:custGeom>
            <a:blipFill>
              <a:blip r:embed="rId4"/>
              <a:stretch>
                <a:fillRect l="-49215" t="-7274"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3878" r="0" b="-4787"/>
            </a:stretch>
          </a:blipFill>
        </p:spPr>
      </p:sp>
      <p:sp>
        <p:nvSpPr>
          <p:cNvPr name="Freeform 3" id="3"/>
          <p:cNvSpPr/>
          <p:nvPr/>
        </p:nvSpPr>
        <p:spPr>
          <a:xfrm flipH="false" flipV="false" rot="0">
            <a:off x="1028700" y="1992118"/>
            <a:ext cx="5288947" cy="9616267"/>
          </a:xfrm>
          <a:custGeom>
            <a:avLst/>
            <a:gdLst/>
            <a:ahLst/>
            <a:cxnLst/>
            <a:rect r="r" b="b" t="t" l="l"/>
            <a:pathLst>
              <a:path h="9616267" w="5288947">
                <a:moveTo>
                  <a:pt x="0" y="0"/>
                </a:moveTo>
                <a:lnTo>
                  <a:pt x="5288947" y="0"/>
                </a:lnTo>
                <a:lnTo>
                  <a:pt x="5288947" y="9616267"/>
                </a:lnTo>
                <a:lnTo>
                  <a:pt x="0" y="9616267"/>
                </a:lnTo>
                <a:lnTo>
                  <a:pt x="0" y="0"/>
                </a:lnTo>
                <a:close/>
              </a:path>
            </a:pathLst>
          </a:custGeom>
          <a:blipFill>
            <a:blip r:embed="rId3"/>
            <a:stretch>
              <a:fillRect l="0" t="0" r="0" b="0"/>
            </a:stretch>
          </a:blipFill>
        </p:spPr>
      </p:sp>
      <p:sp>
        <p:nvSpPr>
          <p:cNvPr name="TextBox 4" id="4"/>
          <p:cNvSpPr txBox="true"/>
          <p:nvPr/>
        </p:nvSpPr>
        <p:spPr>
          <a:xfrm rot="0">
            <a:off x="6479619" y="2945669"/>
            <a:ext cx="10453781" cy="3959956"/>
          </a:xfrm>
          <a:prstGeom prst="rect">
            <a:avLst/>
          </a:prstGeom>
        </p:spPr>
        <p:txBody>
          <a:bodyPr anchor="t" rtlCol="false" tIns="0" lIns="0" bIns="0" rIns="0">
            <a:spAutoFit/>
          </a:bodyPr>
          <a:lstStyle/>
          <a:p>
            <a:pPr algn="ctr">
              <a:lnSpc>
                <a:spcPts val="3068"/>
              </a:lnSpc>
            </a:pPr>
            <a:r>
              <a:rPr lang="en-US" sz="2557">
                <a:solidFill>
                  <a:srgbClr val="FFFFFF"/>
                </a:solidFill>
                <a:latin typeface="Agrandir"/>
                <a:ea typeface="Agrandir"/>
                <a:cs typeface="Agrandir"/>
                <a:sym typeface="Agrandir"/>
              </a:rPr>
              <a:t>Misol uchun, bir qator Facebook guruhlari rasmiy saytlarimiz uchun axborot manbalariga aylandi. Lekin oxir-oqibat axborotni tekshirish ommaviy axborot vositalari va jurnalistlarning asosiy vazifalaridan biridir. Shuning uchun, ijtimoiy tarmoq foydalanuvchilarini ko'rsatish noto'g'ri ommaviy axborot vositalari sifatida ro‘yxatdan o‘tgan rasmiy veb-saytlarda axborot manbai bo‘lishi kerak. Chunki ijtimoiy tarmoq foydalanuvchilari juda sub'ektiv ravishda haqiqatga bog'liq. Ya'ni, ba'zan ular, qarab xarakteri, kayfiyati, holati va holatlari, ularning post fikrlar, mulohazalar, xulosalar yoki hatto butunlay ixtiro qilingansoxta ma'lumotlar. </a:t>
            </a:r>
          </a:p>
        </p:txBody>
      </p:sp>
      <p:grpSp>
        <p:nvGrpSpPr>
          <p:cNvPr name="Group 5" id="5"/>
          <p:cNvGrpSpPr/>
          <p:nvPr/>
        </p:nvGrpSpPr>
        <p:grpSpPr>
          <a:xfrm rot="-6530055">
            <a:off x="-897023" y="-4846354"/>
            <a:ext cx="7609535" cy="5353706"/>
            <a:chOff x="0" y="0"/>
            <a:chExt cx="866460" cy="609600"/>
          </a:xfrm>
        </p:grpSpPr>
        <p:sp>
          <p:nvSpPr>
            <p:cNvPr name="Freeform 6" id="6"/>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D4D2CA">
                    <a:alpha val="72000"/>
                  </a:srgbClr>
                </a:gs>
                <a:gs pos="100000">
                  <a:srgbClr val="FFFFFF">
                    <a:alpha val="72000"/>
                  </a:srgbClr>
                </a:gs>
              </a:gsLst>
              <a:lin ang="0"/>
            </a:gradFill>
          </p:spPr>
        </p:sp>
        <p:sp>
          <p:nvSpPr>
            <p:cNvPr name="TextBox 7" id="7"/>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6530055">
            <a:off x="13013443" y="9556877"/>
            <a:ext cx="7609535" cy="5353706"/>
            <a:chOff x="0" y="0"/>
            <a:chExt cx="866460" cy="609600"/>
          </a:xfrm>
        </p:grpSpPr>
        <p:sp>
          <p:nvSpPr>
            <p:cNvPr name="Freeform 9" id="9"/>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D4D2CA">
                    <a:alpha val="72000"/>
                  </a:srgbClr>
                </a:gs>
                <a:gs pos="100000">
                  <a:srgbClr val="FFFFFF">
                    <a:alpha val="72000"/>
                  </a:srgbClr>
                </a:gs>
              </a:gsLst>
              <a:lin ang="0"/>
            </a:gradFill>
          </p:spPr>
        </p:sp>
        <p:sp>
          <p:nvSpPr>
            <p:cNvPr name="TextBox 10" id="10"/>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0B151B"/>
        </a:solidFill>
      </p:bgPr>
    </p:bg>
    <p:spTree>
      <p:nvGrpSpPr>
        <p:cNvPr id="1" name=""/>
        <p:cNvGrpSpPr/>
        <p:nvPr/>
      </p:nvGrpSpPr>
      <p:grpSpPr>
        <a:xfrm>
          <a:off x="0" y="0"/>
          <a:ext cx="0" cy="0"/>
          <a:chOff x="0" y="0"/>
          <a:chExt cx="0" cy="0"/>
        </a:xfrm>
      </p:grpSpPr>
      <p:sp>
        <p:nvSpPr>
          <p:cNvPr name="TextBox 2" id="2"/>
          <p:cNvSpPr txBox="true"/>
          <p:nvPr/>
        </p:nvSpPr>
        <p:spPr>
          <a:xfrm rot="0">
            <a:off x="808689" y="466391"/>
            <a:ext cx="15494551" cy="9248775"/>
          </a:xfrm>
          <a:prstGeom prst="rect">
            <a:avLst/>
          </a:prstGeom>
        </p:spPr>
        <p:txBody>
          <a:bodyPr anchor="t" rtlCol="false" tIns="0" lIns="0" bIns="0" rIns="0">
            <a:spAutoFit/>
          </a:bodyPr>
          <a:lstStyle/>
          <a:p>
            <a:pPr algn="just">
              <a:lnSpc>
                <a:spcPts val="3152"/>
              </a:lnSpc>
            </a:pPr>
            <a:r>
              <a:rPr lang="en-US" sz="2627">
                <a:solidFill>
                  <a:srgbClr val="FFFFFF"/>
                </a:solidFill>
                <a:latin typeface="Agrandir"/>
                <a:ea typeface="Agrandir"/>
                <a:cs typeface="Agrandir"/>
                <a:sym typeface="Agrandir"/>
              </a:rPr>
              <a:t>Koronavirusga qarshi vaksina haqidagi eng keng tarqalgan feyk va noto‘g‘ri farazlar Vaksinalar ishlab chiqarilishi boshlanganidan buyon odamlar orasida vaksinatsiya jarayonlari va ularda qo‘llanilayotgan preparatlar haqida turli xil yolg‘on xabarlar tarqalgan. AQShning yirik jamoaviy sog‘liqni saqlash tizimi bo‘lgan </a:t>
            </a:r>
          </a:p>
          <a:p>
            <a:pPr algn="just">
              <a:lnSpc>
                <a:spcPts val="3152"/>
              </a:lnSpc>
            </a:pPr>
            <a:r>
              <a:rPr lang="en-US" sz="2627">
                <a:solidFill>
                  <a:srgbClr val="FFFFFF"/>
                </a:solidFill>
                <a:latin typeface="Agrandir"/>
                <a:ea typeface="Agrandir"/>
                <a:cs typeface="Agrandir"/>
                <a:sym typeface="Agrandir"/>
              </a:rPr>
              <a:t>Hospitals koronavirus infeksiyasiga qarshi qo‘llanilayotgan vaksinalar haqidagi eng mashhur feyklar va noto‘g‘ri farazlar borasida dalil keltiradi.</a:t>
            </a:r>
          </a:p>
          <a:p>
            <a:pPr algn="just">
              <a:lnSpc>
                <a:spcPts val="3512"/>
              </a:lnSpc>
            </a:pPr>
            <a:r>
              <a:rPr lang="en-US" sz="2927">
                <a:solidFill>
                  <a:srgbClr val="FFFFFF"/>
                </a:solidFill>
                <a:latin typeface="Agrandir"/>
                <a:ea typeface="Agrandir"/>
                <a:cs typeface="Agrandir"/>
                <a:sym typeface="Agrandir"/>
              </a:rPr>
              <a:t> Feyk</a:t>
            </a:r>
            <a:r>
              <a:rPr lang="en-US" sz="2927">
                <a:solidFill>
                  <a:srgbClr val="5E17EB"/>
                </a:solidFill>
                <a:latin typeface="Agrandir"/>
                <a:ea typeface="Agrandir"/>
                <a:cs typeface="Agrandir"/>
                <a:sym typeface="Agrandir"/>
              </a:rPr>
              <a:t>:</a:t>
            </a:r>
            <a:r>
              <a:rPr lang="en-US" sz="2927">
                <a:solidFill>
                  <a:srgbClr val="FFFFFF"/>
                </a:solidFill>
                <a:latin typeface="Agrandir"/>
                <a:ea typeface="Agrandir"/>
                <a:cs typeface="Agrandir"/>
                <a:sym typeface="Agrandir"/>
              </a:rPr>
              <a:t> COVID-19 vaksinalari xavfli, chunki ular juda tez ishlab chiqarilgan. </a:t>
            </a:r>
          </a:p>
          <a:p>
            <a:pPr algn="just">
              <a:lnSpc>
                <a:spcPts val="3152"/>
              </a:lnSpc>
            </a:pPr>
            <a:r>
              <a:rPr lang="en-US" sz="2627">
                <a:solidFill>
                  <a:srgbClr val="FFFFFF"/>
                </a:solidFill>
                <a:latin typeface="Agrandir"/>
                <a:ea typeface="Agrandir"/>
                <a:cs typeface="Agrandir"/>
                <a:sym typeface="Agrandir"/>
              </a:rPr>
              <a:t>Haqiqat: Vaksinaning xavfsizligi va samaradorligi ilmiy jihatdan isbotlangan. COVID19 vaksinalari klinik sinovlardan va xavfsizlik bo‘yicha tekshiruvlardan o‘tgan, ayrimlari hozirgacha sinov jarayonida. </a:t>
            </a:r>
          </a:p>
          <a:p>
            <a:pPr algn="just">
              <a:lnSpc>
                <a:spcPts val="3152"/>
              </a:lnSpc>
            </a:pPr>
            <a:r>
              <a:rPr lang="en-US" sz="2627">
                <a:solidFill>
                  <a:srgbClr val="FFFFFF"/>
                </a:solidFill>
                <a:latin typeface="Agrandir"/>
                <a:ea typeface="Agrandir"/>
                <a:cs typeface="Agrandir"/>
                <a:sym typeface="Agrandir"/>
              </a:rPr>
              <a:t>Noto‘g‘ri faraz: COVID-19 vaksinasi juda jiddiy nojo‘ya ta’sir va allergik reaksiyalarga olib keladi. Haqiqat: Koronavirusga qarshi vaksina boshqa vaksinalar kabi jiddiy bo‘lmagan nojo‘ya ta’sirga olib kelishi mumkin. Charchoq, bosh og‘rig‘i, og‘riq yoki in’eksiya qilingan joyida qizarish va mushak yoki bo‘g‘inlarda og‘riqlar kuzatilishi mumkin. Bunday nojo‘ya ta’sirlar yoqimsiz bo‘lsa ham, ular sizning organizmingiz o‘zini COVID-19 dan himoyalash uchun o‘z faoliyatini boshlaganini anglatadi. Qo‘llanilayotgan vaksina tarkibidagi moddalarga allergik reaksiyalar kuzatilgan odamlar emlanmasligi kerak. Noto‘g‘ri faraz: Menda COVID-19 ning og‘ir ko‘rinishi bilan kasallanish xavfi yo‘q, shuning uchun menga emlanish kerak emas.</a:t>
            </a:r>
          </a:p>
          <a:p>
            <a:pPr algn="just">
              <a:lnSpc>
                <a:spcPts val="3152"/>
              </a:lnSpc>
            </a:pPr>
            <a:r>
              <a:rPr lang="en-US" sz="2627">
                <a:solidFill>
                  <a:srgbClr val="FFFFFF"/>
                </a:solidFill>
                <a:latin typeface="Agrandir"/>
                <a:ea typeface="Agrandir"/>
                <a:cs typeface="Agrandir"/>
                <a:sym typeface="Agrandir"/>
              </a:rPr>
              <a:t> Haqiqat: Kasallik xavfiga qay darajada moyil ekanligingiz muhim emas, chunki siz baribir virusni yuqtirishingiz va uni tarqatishingiz mumkin. Vaksinadan foydalanish imkoniyati kengayganidan so‘ng, imkon qadar ko‘proq kattalarni emlash, jamoaviy immunitetni yaratish, aholini virusdan himoya qilishga yordam beradi.</a:t>
            </a:r>
          </a:p>
          <a:p>
            <a:pPr algn="just">
              <a:lnSpc>
                <a:spcPts val="5792"/>
              </a:lnSpc>
            </a:pPr>
            <a:r>
              <a:rPr lang="en-US" sz="4827">
                <a:solidFill>
                  <a:srgbClr val="FFFFFF"/>
                </a:solidFill>
                <a:latin typeface="Agrandir"/>
                <a:ea typeface="Agrandir"/>
                <a:cs typeface="Agrandir"/>
                <a:sym typeface="Agrandir"/>
              </a:rPr>
              <a:t>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8305200" y="239678"/>
            <a:ext cx="13695921" cy="12370171"/>
            <a:chOff x="0" y="0"/>
            <a:chExt cx="911723" cy="823469"/>
          </a:xfrm>
        </p:grpSpPr>
        <p:sp>
          <p:nvSpPr>
            <p:cNvPr name="Freeform 4" id="4"/>
            <p:cNvSpPr/>
            <p:nvPr/>
          </p:nvSpPr>
          <p:spPr>
            <a:xfrm flipH="false" flipV="false" rot="0">
              <a:off x="0" y="0"/>
              <a:ext cx="911723" cy="823470"/>
            </a:xfrm>
            <a:custGeom>
              <a:avLst/>
              <a:gdLst/>
              <a:ahLst/>
              <a:cxnLst/>
              <a:rect r="r" b="b" t="t" l="l"/>
              <a:pathLst>
                <a:path h="823470" w="911723">
                  <a:moveTo>
                    <a:pt x="203200" y="0"/>
                  </a:moveTo>
                  <a:lnTo>
                    <a:pt x="911723" y="0"/>
                  </a:lnTo>
                  <a:lnTo>
                    <a:pt x="708523" y="823470"/>
                  </a:lnTo>
                  <a:lnTo>
                    <a:pt x="0" y="823470"/>
                  </a:lnTo>
                  <a:lnTo>
                    <a:pt x="203200" y="0"/>
                  </a:lnTo>
                  <a:close/>
                </a:path>
              </a:pathLst>
            </a:custGeom>
            <a:solidFill>
              <a:srgbClr val="0B151B"/>
            </a:solidFill>
          </p:spPr>
        </p:sp>
        <p:sp>
          <p:nvSpPr>
            <p:cNvPr name="TextBox 5" id="5"/>
            <p:cNvSpPr txBox="true"/>
            <p:nvPr/>
          </p:nvSpPr>
          <p:spPr>
            <a:xfrm>
              <a:off x="101600" y="-38100"/>
              <a:ext cx="708523" cy="861569"/>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3250909">
            <a:off x="8585911" y="9667957"/>
            <a:ext cx="7609535" cy="5353706"/>
            <a:chOff x="0" y="0"/>
            <a:chExt cx="866460" cy="609600"/>
          </a:xfrm>
        </p:grpSpPr>
        <p:sp>
          <p:nvSpPr>
            <p:cNvPr name="Freeform 7" id="7"/>
            <p:cNvSpPr/>
            <p:nvPr/>
          </p:nvSpPr>
          <p:spPr>
            <a:xfrm flipH="false" flipV="false" rot="0">
              <a:off x="0" y="0"/>
              <a:ext cx="866460" cy="609600"/>
            </a:xfrm>
            <a:custGeom>
              <a:avLst/>
              <a:gdLst/>
              <a:ahLst/>
              <a:cxnLst/>
              <a:rect r="r" b="b" t="t" l="l"/>
              <a:pathLst>
                <a:path h="609600" w="866460">
                  <a:moveTo>
                    <a:pt x="203200" y="0"/>
                  </a:moveTo>
                  <a:lnTo>
                    <a:pt x="866460" y="0"/>
                  </a:lnTo>
                  <a:lnTo>
                    <a:pt x="663260" y="609600"/>
                  </a:lnTo>
                  <a:lnTo>
                    <a:pt x="0" y="609600"/>
                  </a:lnTo>
                  <a:lnTo>
                    <a:pt x="203200" y="0"/>
                  </a:lnTo>
                  <a:close/>
                </a:path>
              </a:pathLst>
            </a:custGeom>
            <a:gradFill rotWithShape="true">
              <a:gsLst>
                <a:gs pos="0">
                  <a:srgbClr val="D4D2CA">
                    <a:alpha val="100000"/>
                  </a:srgbClr>
                </a:gs>
                <a:gs pos="100000">
                  <a:srgbClr val="FFFFFF">
                    <a:alpha val="100000"/>
                  </a:srgbClr>
                </a:gs>
              </a:gsLst>
              <a:lin ang="0"/>
            </a:gradFill>
          </p:spPr>
        </p:sp>
        <p:sp>
          <p:nvSpPr>
            <p:cNvPr name="TextBox 8" id="8"/>
            <p:cNvSpPr txBox="true"/>
            <p:nvPr/>
          </p:nvSpPr>
          <p:spPr>
            <a:xfrm>
              <a:off x="101600" y="-85725"/>
              <a:ext cx="663260" cy="695325"/>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0296719" y="4016955"/>
            <a:ext cx="7756075" cy="2809875"/>
          </a:xfrm>
          <a:prstGeom prst="rect">
            <a:avLst/>
          </a:prstGeom>
        </p:spPr>
        <p:txBody>
          <a:bodyPr anchor="t" rtlCol="false" tIns="0" lIns="0" bIns="0" rIns="0">
            <a:spAutoFit/>
          </a:bodyPr>
          <a:lstStyle/>
          <a:p>
            <a:pPr algn="r">
              <a:lnSpc>
                <a:spcPts val="2760"/>
              </a:lnSpc>
            </a:pPr>
            <a:r>
              <a:rPr lang="en-US" sz="2300">
                <a:solidFill>
                  <a:srgbClr val="FFFFFF"/>
                </a:solidFill>
                <a:latin typeface="Agrandir"/>
                <a:ea typeface="Agrandir"/>
                <a:cs typeface="Agrandir"/>
                <a:sym typeface="Agrandir"/>
              </a:rPr>
              <a:t>Internet va ijtimoiy medianing rivojlanib borishi natijasida har bir axborot iste’molchisi ayni vaqtda axborot tarqatuvchi, xalq jurnalisti rolini ham bajarmoqda. Inson birgina barmoq harakati bilan kelib chiqishi shubhali xabarni minglab odamlarga etkazishi mumkin. Shunday sharoitda har bir fuqaro o`zi bilmagan holda halokatli dezinformasiya zanjirining bir halqasiga aylanib qolishi mumkin. </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DAHLT1WEMGY</dc:identifier>
  <dcterms:modified xsi:type="dcterms:W3CDTF">2011-08-01T06:04:30Z</dcterms:modified>
  <cp:revision>1</cp:revision>
  <dc:title>plan</dc:title>
</cp:coreProperties>
</file>